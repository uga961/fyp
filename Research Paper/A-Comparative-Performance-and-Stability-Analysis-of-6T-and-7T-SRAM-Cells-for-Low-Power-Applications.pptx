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Funnel Sans" panose="020B0604020202020204" charset="0"/>
      <p:regular r:id="rId13"/>
    </p:embeddedFont>
    <p:embeddedFont>
      <p:font typeface="Microsoft Sans Serif" panose="020B0604020202020204" pitchFamily="34" charset="0"/>
      <p:regular r:id="rId14"/>
    </p:embeddedFont>
    <p:embeddedFont>
      <p:font typeface="Mona Sans Semi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140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477982" y="1809869"/>
            <a:ext cx="13358629" cy="3543895"/>
          </a:xfrm>
          <a:prstGeom prst="rect">
            <a:avLst/>
          </a:prstGeom>
          <a:noFill/>
          <a:ln/>
        </p:spPr>
        <p:txBody>
          <a:bodyPr wrap="square" lIns="0" tIns="0" rIns="0" bIns="0" rtlCol="0" anchor="ctr"/>
          <a:lstStyle/>
          <a:p>
            <a:pPr marL="0" indent="0" algn="ctr">
              <a:lnSpc>
                <a:spcPts val="5550"/>
              </a:lnSpc>
              <a:buNone/>
            </a:pPr>
            <a:r>
              <a:rPr lang="en-US" sz="4450" b="1" dirty="0">
                <a:solidFill>
                  <a:srgbClr val="373B48"/>
                </a:solidFill>
                <a:latin typeface="Microsoft Sans Serif" panose="020B0604020202020204" pitchFamily="34" charset="0"/>
                <a:ea typeface="Microsoft Sans Serif" panose="020B0604020202020204" pitchFamily="34" charset="0"/>
                <a:cs typeface="Microsoft Sans Serif" panose="020B0604020202020204" pitchFamily="34" charset="0"/>
              </a:rPr>
              <a:t>A Comparative Performance and Stability Analysis of 6T and 7T SRAM Cells for Low-Power Applications</a:t>
            </a:r>
            <a:endParaRPr lang="en-US" sz="4450" b="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 1"/>
          <p:cNvSpPr/>
          <p:nvPr/>
        </p:nvSpPr>
        <p:spPr>
          <a:xfrm>
            <a:off x="6280190" y="5693926"/>
            <a:ext cx="7556421" cy="725805"/>
          </a:xfrm>
          <a:prstGeom prst="rect">
            <a:avLst/>
          </a:prstGeom>
          <a:noFill/>
          <a:ln/>
        </p:spPr>
        <p:txBody>
          <a:bodyPr wrap="square" lIns="0" tIns="0" rIns="0" bIns="0" rtlCol="0" anchor="t"/>
          <a:lstStyle/>
          <a:p>
            <a:pPr marL="0" indent="0" algn="l">
              <a:lnSpc>
                <a:spcPts val="2850"/>
              </a:lnSpc>
              <a:buNone/>
            </a:pPr>
            <a:r>
              <a:rPr lang="en-US" sz="1750" b="1" dirty="0">
                <a:solidFill>
                  <a:srgbClr val="52586B"/>
                </a:solidFill>
                <a:latin typeface="Arial" panose="020B0604020202020204" pitchFamily="34" charset="0"/>
                <a:ea typeface="Funnel Sans" pitchFamily="34" charset="-122"/>
                <a:cs typeface="Arial" panose="020B0604020202020204" pitchFamily="34" charset="0"/>
              </a:rPr>
              <a:t>Dr. T. Ravi, Naralasetti Umesh Surya Kiran, Vaddi Ugandhar</a:t>
            </a:r>
            <a:endParaRPr lang="en-US" sz="1750" b="1" dirty="0">
              <a:latin typeface="Arial" panose="020B0604020202020204" pitchFamily="34" charset="0"/>
              <a:cs typeface="Arial" panose="020B0604020202020204" pitchFamily="34" charset="0"/>
            </a:endParaRPr>
          </a:p>
          <a:p>
            <a:pPr marL="0" indent="0" algn="l">
              <a:lnSpc>
                <a:spcPts val="2850"/>
              </a:lnSpc>
              <a:buNone/>
            </a:pPr>
            <a:r>
              <a:rPr lang="en-US" sz="1750" b="1" dirty="0">
                <a:solidFill>
                  <a:srgbClr val="52586B"/>
                </a:solidFill>
                <a:latin typeface="Arial" panose="020B0604020202020204" pitchFamily="34" charset="0"/>
                <a:ea typeface="Funnel Sans" pitchFamily="34" charset="-122"/>
                <a:cs typeface="Arial" panose="020B0604020202020204" pitchFamily="34" charset="0"/>
              </a:rPr>
              <a:t>Sathyabama Institute of Science and Technology, Chennai, India</a:t>
            </a:r>
            <a:endParaRPr lang="en-US" sz="1750" b="1"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05DAFEA-1124-656D-85A5-826958A4C31C}"/>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23342"/>
            <a:ext cx="12385000"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SRAM: The Foundation of Modern Computing</a:t>
            </a:r>
            <a:endParaRPr lang="en-US" sz="4450" dirty="0"/>
          </a:p>
        </p:txBody>
      </p:sp>
      <p:sp>
        <p:nvSpPr>
          <p:cNvPr id="3" name="Text 1"/>
          <p:cNvSpPr/>
          <p:nvPr/>
        </p:nvSpPr>
        <p:spPr>
          <a:xfrm>
            <a:off x="793790" y="2359819"/>
            <a:ext cx="4205168" cy="254031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Static random-access memory (SRAM) serves as the primary on-chip storage element in processors, cache memories, and embedded systems. Its fast access speed and compatibility with standard CMOS processes make it indispensable in modern digital integrated circuits.</a:t>
            </a:r>
            <a:endParaRPr lang="en-US" sz="1750" dirty="0"/>
          </a:p>
        </p:txBody>
      </p:sp>
      <p:sp>
        <p:nvSpPr>
          <p:cNvPr id="4" name="Text 2"/>
          <p:cNvSpPr/>
          <p:nvPr/>
        </p:nvSpPr>
        <p:spPr>
          <a:xfrm>
            <a:off x="793790" y="5104209"/>
            <a:ext cx="4205168" cy="1814513"/>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As energy efficiency becomes critical in battery-powered electronics, reliable SRAM operation at reduced supply voltages has emerged as a key requirement for system-on-chip designs.</a:t>
            </a:r>
            <a:endParaRPr lang="en-US" sz="1750" dirty="0"/>
          </a:p>
        </p:txBody>
      </p:sp>
      <p:pic>
        <p:nvPicPr>
          <p:cNvPr id="5" name="Image 0" descr="preencoded.png"/>
          <p:cNvPicPr>
            <a:picLocks noChangeAspect="1"/>
          </p:cNvPicPr>
          <p:nvPr/>
        </p:nvPicPr>
        <p:blipFill>
          <a:blip r:embed="rId3"/>
          <a:stretch>
            <a:fillRect/>
          </a:stretch>
        </p:blipFill>
        <p:spPr>
          <a:xfrm>
            <a:off x="5559981" y="2327434"/>
            <a:ext cx="8284131" cy="4623673"/>
          </a:xfrm>
          <a:prstGeom prst="rect">
            <a:avLst/>
          </a:prstGeom>
        </p:spPr>
      </p:pic>
      <p:sp>
        <p:nvSpPr>
          <p:cNvPr id="8" name="Rectangle 7">
            <a:extLst>
              <a:ext uri="{FF2B5EF4-FFF2-40B4-BE49-F238E27FC236}">
                <a16:creationId xmlns:a16="http://schemas.microsoft.com/office/drawing/2014/main" id="{D3B14A4A-27CF-B011-EC3F-89A1AE60E199}"/>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4462" y="975955"/>
            <a:ext cx="7767876" cy="1228725"/>
          </a:xfrm>
          <a:prstGeom prst="rect">
            <a:avLst/>
          </a:prstGeom>
          <a:noFill/>
          <a:ln/>
        </p:spPr>
        <p:txBody>
          <a:bodyPr wrap="square" lIns="0" tIns="0" rIns="0" bIns="0" rtlCol="0" anchor="t"/>
          <a:lstStyle/>
          <a:p>
            <a:pPr marL="0" indent="0" algn="l">
              <a:lnSpc>
                <a:spcPts val="4800"/>
              </a:lnSpc>
              <a:buNone/>
            </a:pPr>
            <a:r>
              <a:rPr lang="en-US" sz="3850" dirty="0">
                <a:solidFill>
                  <a:srgbClr val="373B48"/>
                </a:solidFill>
                <a:latin typeface="Mona Sans Semi Bold" pitchFamily="34" charset="0"/>
                <a:ea typeface="Mona Sans Semi Bold" pitchFamily="34" charset="-122"/>
                <a:cs typeface="Mona Sans Semi Bold" pitchFamily="34" charset="-120"/>
              </a:rPr>
              <a:t>The Challenge of Voltage Scaling</a:t>
            </a:r>
            <a:endParaRPr lang="en-US" sz="3850" dirty="0"/>
          </a:p>
        </p:txBody>
      </p:sp>
      <p:sp>
        <p:nvSpPr>
          <p:cNvPr id="4" name="Shape 1"/>
          <p:cNvSpPr/>
          <p:nvPr/>
        </p:nvSpPr>
        <p:spPr>
          <a:xfrm>
            <a:off x="6174462" y="2460188"/>
            <a:ext cx="3798689" cy="2458283"/>
          </a:xfrm>
          <a:prstGeom prst="roundRect">
            <a:avLst>
              <a:gd name="adj" fmla="val 3359"/>
            </a:avLst>
          </a:prstGeom>
          <a:solidFill>
            <a:srgbClr val="E2E4E9"/>
          </a:solidFill>
          <a:ln w="7620">
            <a:solidFill>
              <a:srgbClr val="C8CACF"/>
            </a:solidFill>
            <a:prstDash val="solid"/>
          </a:ln>
        </p:spPr>
      </p:sp>
      <p:sp>
        <p:nvSpPr>
          <p:cNvPr id="5" name="Shape 2"/>
          <p:cNvSpPr/>
          <p:nvPr/>
        </p:nvSpPr>
        <p:spPr>
          <a:xfrm>
            <a:off x="6378654" y="2664381"/>
            <a:ext cx="589717" cy="589717"/>
          </a:xfrm>
          <a:prstGeom prst="roundRect">
            <a:avLst>
              <a:gd name="adj" fmla="val 15504192"/>
            </a:avLst>
          </a:prstGeom>
          <a:solidFill>
            <a:srgbClr val="373B48"/>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40818" y="2826425"/>
            <a:ext cx="265390" cy="265390"/>
          </a:xfrm>
          <a:prstGeom prst="rect">
            <a:avLst/>
          </a:prstGeom>
        </p:spPr>
      </p:pic>
      <p:sp>
        <p:nvSpPr>
          <p:cNvPr id="7" name="Text 3"/>
          <p:cNvSpPr/>
          <p:nvPr/>
        </p:nvSpPr>
        <p:spPr>
          <a:xfrm>
            <a:off x="6378654" y="3424476"/>
            <a:ext cx="2821424" cy="307181"/>
          </a:xfrm>
          <a:prstGeom prst="rect">
            <a:avLst/>
          </a:prstGeom>
          <a:noFill/>
          <a:ln/>
        </p:spPr>
        <p:txBody>
          <a:bodyPr wrap="none" lIns="0" tIns="0" rIns="0" bIns="0" rtlCol="0" anchor="t"/>
          <a:lstStyle/>
          <a:p>
            <a:pPr marL="0" indent="0" algn="l">
              <a:lnSpc>
                <a:spcPts val="2400"/>
              </a:lnSpc>
              <a:buNone/>
            </a:pPr>
            <a:r>
              <a:rPr lang="en-US" sz="1900" dirty="0">
                <a:solidFill>
                  <a:srgbClr val="52586B"/>
                </a:solidFill>
                <a:latin typeface="Mona Sans Semi Bold" pitchFamily="34" charset="0"/>
                <a:ea typeface="Mona Sans Semi Bold" pitchFamily="34" charset="-122"/>
                <a:cs typeface="Mona Sans Semi Bold" pitchFamily="34" charset="-120"/>
              </a:rPr>
              <a:t>Reduced Drive Strength</a:t>
            </a:r>
            <a:endParaRPr lang="en-US" sz="1900" dirty="0"/>
          </a:p>
        </p:txBody>
      </p:sp>
      <p:sp>
        <p:nvSpPr>
          <p:cNvPr id="8" name="Text 4"/>
          <p:cNvSpPr/>
          <p:nvPr/>
        </p:nvSpPr>
        <p:spPr>
          <a:xfrm>
            <a:off x="6378654" y="3833813"/>
            <a:ext cx="3390305" cy="880467"/>
          </a:xfrm>
          <a:prstGeom prst="rect">
            <a:avLst/>
          </a:prstGeom>
          <a:noFill/>
          <a:ln/>
        </p:spPr>
        <p:txBody>
          <a:bodyPr wrap="square" lIns="0" tIns="0" rIns="0" bIns="0" rtlCol="0" anchor="t"/>
          <a:lstStyle/>
          <a:p>
            <a:pPr marL="0" indent="0" algn="l">
              <a:lnSpc>
                <a:spcPts val="2300"/>
              </a:lnSpc>
              <a:buNone/>
            </a:pPr>
            <a:r>
              <a:rPr lang="en-US" sz="1500" dirty="0">
                <a:solidFill>
                  <a:srgbClr val="52586B"/>
                </a:solidFill>
                <a:latin typeface="Funnel Sans" pitchFamily="34" charset="0"/>
                <a:ea typeface="Funnel Sans" pitchFamily="34" charset="-122"/>
                <a:cs typeface="Funnel Sans" pitchFamily="34" charset="-120"/>
              </a:rPr>
              <a:t>Lower supply voltage degrades device performance and increases sensitivity to variations.</a:t>
            </a:r>
            <a:endParaRPr lang="en-US" sz="1500" dirty="0"/>
          </a:p>
        </p:txBody>
      </p:sp>
      <p:sp>
        <p:nvSpPr>
          <p:cNvPr id="9" name="Shape 5"/>
          <p:cNvSpPr/>
          <p:nvPr/>
        </p:nvSpPr>
        <p:spPr>
          <a:xfrm>
            <a:off x="10143530" y="2460188"/>
            <a:ext cx="3798808" cy="2458283"/>
          </a:xfrm>
          <a:prstGeom prst="roundRect">
            <a:avLst>
              <a:gd name="adj" fmla="val 3359"/>
            </a:avLst>
          </a:prstGeom>
          <a:solidFill>
            <a:srgbClr val="E2E4E9"/>
          </a:solidFill>
          <a:ln w="7620">
            <a:solidFill>
              <a:srgbClr val="C8CACF"/>
            </a:solidFill>
            <a:prstDash val="solid"/>
          </a:ln>
        </p:spPr>
      </p:sp>
      <p:sp>
        <p:nvSpPr>
          <p:cNvPr id="10" name="Shape 6"/>
          <p:cNvSpPr/>
          <p:nvPr/>
        </p:nvSpPr>
        <p:spPr>
          <a:xfrm>
            <a:off x="10347722" y="2664381"/>
            <a:ext cx="589717" cy="589717"/>
          </a:xfrm>
          <a:prstGeom prst="roundRect">
            <a:avLst>
              <a:gd name="adj" fmla="val 15504192"/>
            </a:avLst>
          </a:prstGeom>
          <a:solidFill>
            <a:srgbClr val="373B48"/>
          </a:solidFill>
          <a:ln/>
        </p:spPr>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09885" y="2826425"/>
            <a:ext cx="265390" cy="265390"/>
          </a:xfrm>
          <a:prstGeom prst="rect">
            <a:avLst/>
          </a:prstGeom>
        </p:spPr>
      </p:pic>
      <p:sp>
        <p:nvSpPr>
          <p:cNvPr id="12" name="Text 7"/>
          <p:cNvSpPr/>
          <p:nvPr/>
        </p:nvSpPr>
        <p:spPr>
          <a:xfrm>
            <a:off x="10347722" y="3424476"/>
            <a:ext cx="2457569" cy="307181"/>
          </a:xfrm>
          <a:prstGeom prst="rect">
            <a:avLst/>
          </a:prstGeom>
          <a:noFill/>
          <a:ln/>
        </p:spPr>
        <p:txBody>
          <a:bodyPr wrap="none" lIns="0" tIns="0" rIns="0" bIns="0" rtlCol="0" anchor="t"/>
          <a:lstStyle/>
          <a:p>
            <a:pPr marL="0" indent="0" algn="l">
              <a:lnSpc>
                <a:spcPts val="2400"/>
              </a:lnSpc>
              <a:buNone/>
            </a:pPr>
            <a:r>
              <a:rPr lang="en-US" sz="1900" dirty="0">
                <a:solidFill>
                  <a:srgbClr val="52586B"/>
                </a:solidFill>
                <a:latin typeface="Mona Sans Semi Bold" pitchFamily="34" charset="0"/>
                <a:ea typeface="Mona Sans Semi Bold" pitchFamily="34" charset="-122"/>
                <a:cs typeface="Mona Sans Semi Bold" pitchFamily="34" charset="-120"/>
              </a:rPr>
              <a:t>PVT Variations</a:t>
            </a:r>
            <a:endParaRPr lang="en-US" sz="1900" dirty="0"/>
          </a:p>
        </p:txBody>
      </p:sp>
      <p:sp>
        <p:nvSpPr>
          <p:cNvPr id="13" name="Text 8"/>
          <p:cNvSpPr/>
          <p:nvPr/>
        </p:nvSpPr>
        <p:spPr>
          <a:xfrm>
            <a:off x="10347722" y="3833813"/>
            <a:ext cx="3390424" cy="880467"/>
          </a:xfrm>
          <a:prstGeom prst="rect">
            <a:avLst/>
          </a:prstGeom>
          <a:noFill/>
          <a:ln/>
        </p:spPr>
        <p:txBody>
          <a:bodyPr wrap="square" lIns="0" tIns="0" rIns="0" bIns="0" rtlCol="0" anchor="t"/>
          <a:lstStyle/>
          <a:p>
            <a:pPr marL="0" indent="0" algn="l">
              <a:lnSpc>
                <a:spcPts val="2300"/>
              </a:lnSpc>
              <a:buNone/>
            </a:pPr>
            <a:r>
              <a:rPr lang="en-US" sz="1500" dirty="0">
                <a:solidFill>
                  <a:srgbClr val="52586B"/>
                </a:solidFill>
                <a:latin typeface="Funnel Sans" pitchFamily="34" charset="0"/>
                <a:ea typeface="Funnel Sans" pitchFamily="34" charset="-122"/>
                <a:cs typeface="Funnel Sans" pitchFamily="34" charset="-120"/>
              </a:rPr>
              <a:t>Process, voltage, and temperature variations exacerbate reliability issues at scaled voltages.</a:t>
            </a:r>
            <a:endParaRPr lang="en-US" sz="1500" dirty="0"/>
          </a:p>
        </p:txBody>
      </p:sp>
      <p:sp>
        <p:nvSpPr>
          <p:cNvPr id="14" name="Shape 9"/>
          <p:cNvSpPr/>
          <p:nvPr/>
        </p:nvSpPr>
        <p:spPr>
          <a:xfrm>
            <a:off x="6174462" y="5088850"/>
            <a:ext cx="7767876" cy="2164794"/>
          </a:xfrm>
          <a:prstGeom prst="roundRect">
            <a:avLst>
              <a:gd name="adj" fmla="val 3814"/>
            </a:avLst>
          </a:prstGeom>
          <a:solidFill>
            <a:srgbClr val="E2E4E9"/>
          </a:solidFill>
          <a:ln w="7620">
            <a:solidFill>
              <a:srgbClr val="C8CACF"/>
            </a:solidFill>
            <a:prstDash val="solid"/>
          </a:ln>
        </p:spPr>
      </p:sp>
      <p:sp>
        <p:nvSpPr>
          <p:cNvPr id="15" name="Shape 10"/>
          <p:cNvSpPr/>
          <p:nvPr/>
        </p:nvSpPr>
        <p:spPr>
          <a:xfrm>
            <a:off x="6378654" y="5293043"/>
            <a:ext cx="589717" cy="589717"/>
          </a:xfrm>
          <a:prstGeom prst="roundRect">
            <a:avLst>
              <a:gd name="adj" fmla="val 15504192"/>
            </a:avLst>
          </a:prstGeom>
          <a:solidFill>
            <a:srgbClr val="373B48"/>
          </a:solidFill>
          <a:ln/>
        </p:spPr>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40818" y="5455087"/>
            <a:ext cx="265390" cy="265390"/>
          </a:xfrm>
          <a:prstGeom prst="rect">
            <a:avLst/>
          </a:prstGeom>
        </p:spPr>
      </p:pic>
      <p:sp>
        <p:nvSpPr>
          <p:cNvPr id="17" name="Text 11"/>
          <p:cNvSpPr/>
          <p:nvPr/>
        </p:nvSpPr>
        <p:spPr>
          <a:xfrm>
            <a:off x="6378654" y="6053138"/>
            <a:ext cx="2457569" cy="307181"/>
          </a:xfrm>
          <a:prstGeom prst="rect">
            <a:avLst/>
          </a:prstGeom>
          <a:noFill/>
          <a:ln/>
        </p:spPr>
        <p:txBody>
          <a:bodyPr wrap="none" lIns="0" tIns="0" rIns="0" bIns="0" rtlCol="0" anchor="t"/>
          <a:lstStyle/>
          <a:p>
            <a:pPr marL="0" indent="0" algn="l">
              <a:lnSpc>
                <a:spcPts val="2400"/>
              </a:lnSpc>
              <a:buNone/>
            </a:pPr>
            <a:r>
              <a:rPr lang="en-US" sz="1900" dirty="0">
                <a:solidFill>
                  <a:srgbClr val="52586B"/>
                </a:solidFill>
                <a:latin typeface="Mona Sans Semi Bold" pitchFamily="34" charset="0"/>
                <a:ea typeface="Mona Sans Semi Bold" pitchFamily="34" charset="-122"/>
                <a:cs typeface="Mona Sans Semi Bold" pitchFamily="34" charset="-120"/>
              </a:rPr>
              <a:t>Read Disturb</a:t>
            </a:r>
            <a:endParaRPr lang="en-US" sz="1900" dirty="0"/>
          </a:p>
        </p:txBody>
      </p:sp>
      <p:sp>
        <p:nvSpPr>
          <p:cNvPr id="18" name="Text 12"/>
          <p:cNvSpPr/>
          <p:nvPr/>
        </p:nvSpPr>
        <p:spPr>
          <a:xfrm>
            <a:off x="6378654" y="6462474"/>
            <a:ext cx="7359491" cy="586978"/>
          </a:xfrm>
          <a:prstGeom prst="rect">
            <a:avLst/>
          </a:prstGeom>
          <a:noFill/>
          <a:ln/>
        </p:spPr>
        <p:txBody>
          <a:bodyPr wrap="square" lIns="0" tIns="0" rIns="0" bIns="0" rtlCol="0" anchor="t"/>
          <a:lstStyle/>
          <a:p>
            <a:pPr marL="0" indent="0" algn="l">
              <a:lnSpc>
                <a:spcPts val="2300"/>
              </a:lnSpc>
              <a:buNone/>
            </a:pPr>
            <a:r>
              <a:rPr lang="en-US" sz="1500" dirty="0">
                <a:solidFill>
                  <a:srgbClr val="52586B"/>
                </a:solidFill>
                <a:latin typeface="Funnel Sans" pitchFamily="34" charset="0"/>
                <a:ea typeface="Funnel Sans" pitchFamily="34" charset="-122"/>
                <a:cs typeface="Funnel Sans" pitchFamily="34" charset="-120"/>
              </a:rPr>
              <a:t>Unintended disturbance of stored data during bitline sensing under low-voltage conditions.</a:t>
            </a:r>
            <a:endParaRPr lang="en-US" sz="1500" dirty="0"/>
          </a:p>
        </p:txBody>
      </p:sp>
      <p:sp>
        <p:nvSpPr>
          <p:cNvPr id="19" name="Rectangle 18">
            <a:extLst>
              <a:ext uri="{FF2B5EF4-FFF2-40B4-BE49-F238E27FC236}">
                <a16:creationId xmlns:a16="http://schemas.microsoft.com/office/drawing/2014/main" id="{BA28DA4C-E604-84D8-4791-661E46F95AA6}"/>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45375"/>
            <a:ext cx="6092785"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6T vs 7T Architectures</a:t>
            </a:r>
            <a:endParaRPr lang="en-US" sz="4450" dirty="0"/>
          </a:p>
        </p:txBody>
      </p:sp>
      <p:sp>
        <p:nvSpPr>
          <p:cNvPr id="3" name="Text 1"/>
          <p:cNvSpPr/>
          <p:nvPr/>
        </p:nvSpPr>
        <p:spPr>
          <a:xfrm>
            <a:off x="793790" y="3321129"/>
            <a:ext cx="3795951" cy="425291"/>
          </a:xfrm>
          <a:prstGeom prst="rect">
            <a:avLst/>
          </a:prstGeom>
          <a:noFill/>
          <a:ln/>
        </p:spPr>
        <p:txBody>
          <a:bodyPr wrap="none" lIns="0" tIns="0" rIns="0" bIns="0" rtlCol="0" anchor="t"/>
          <a:lstStyle/>
          <a:p>
            <a:pPr marL="0" indent="0" algn="l">
              <a:lnSpc>
                <a:spcPts val="3300"/>
              </a:lnSpc>
              <a:buNone/>
            </a:pPr>
            <a:r>
              <a:rPr lang="en-US" sz="2650" dirty="0">
                <a:solidFill>
                  <a:srgbClr val="373B48"/>
                </a:solidFill>
                <a:latin typeface="Mona Sans Semi Bold" pitchFamily="34" charset="0"/>
                <a:ea typeface="Mona Sans Semi Bold" pitchFamily="34" charset="-122"/>
                <a:cs typeface="Mona Sans Semi Bold" pitchFamily="34" charset="-120"/>
              </a:rPr>
              <a:t>Conventional 6T SRAM</a:t>
            </a:r>
            <a:endParaRPr lang="en-US" sz="2650" dirty="0"/>
          </a:p>
        </p:txBody>
      </p:sp>
      <p:sp>
        <p:nvSpPr>
          <p:cNvPr id="4" name="Text 2"/>
          <p:cNvSpPr/>
          <p:nvPr/>
        </p:nvSpPr>
        <p:spPr>
          <a:xfrm>
            <a:off x="793790" y="3973235"/>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Two cross-coupled inverters forming storage nodes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Two access transistors connecting to bitlines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Direct coupling between read path and storage nodes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Compact area with 6 transistors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Susceptible to read disturb effects</a:t>
            </a:r>
            <a:endParaRPr lang="en-US" sz="1750" dirty="0"/>
          </a:p>
        </p:txBody>
      </p:sp>
      <p:sp>
        <p:nvSpPr>
          <p:cNvPr id="5" name="Text 3"/>
          <p:cNvSpPr/>
          <p:nvPr/>
        </p:nvSpPr>
        <p:spPr>
          <a:xfrm>
            <a:off x="7599521" y="3321129"/>
            <a:ext cx="4368403" cy="425291"/>
          </a:xfrm>
          <a:prstGeom prst="rect">
            <a:avLst/>
          </a:prstGeom>
          <a:noFill/>
          <a:ln/>
        </p:spPr>
        <p:txBody>
          <a:bodyPr wrap="none" lIns="0" tIns="0" rIns="0" bIns="0" rtlCol="0" anchor="t"/>
          <a:lstStyle/>
          <a:p>
            <a:pPr marL="0" indent="0" algn="l">
              <a:lnSpc>
                <a:spcPts val="3300"/>
              </a:lnSpc>
              <a:buNone/>
            </a:pPr>
            <a:r>
              <a:rPr lang="en-US" sz="2650" dirty="0">
                <a:solidFill>
                  <a:srgbClr val="373B48"/>
                </a:solidFill>
                <a:latin typeface="Mona Sans Semi Bold" pitchFamily="34" charset="0"/>
                <a:ea typeface="Mona Sans Semi Bold" pitchFamily="34" charset="-122"/>
                <a:cs typeface="Mona Sans Semi Bold" pitchFamily="34" charset="-120"/>
              </a:rPr>
              <a:t>Decoupled-Read 7T SRAM</a:t>
            </a:r>
            <a:endParaRPr lang="en-US" sz="2650" dirty="0"/>
          </a:p>
        </p:txBody>
      </p:sp>
      <p:sp>
        <p:nvSpPr>
          <p:cNvPr id="6" name="Text 4"/>
          <p:cNvSpPr/>
          <p:nvPr/>
        </p:nvSpPr>
        <p:spPr>
          <a:xfrm>
            <a:off x="7599521" y="3973235"/>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Additional transistor isolates read path</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Eliminates read disturb during sensing</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Enhanced read static noise margin</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Increased area with 7 transistors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Improved low-voltage robustness</a:t>
            </a:r>
            <a:endParaRPr lang="en-US" sz="1750" dirty="0"/>
          </a:p>
        </p:txBody>
      </p:sp>
      <p:sp>
        <p:nvSpPr>
          <p:cNvPr id="7" name="Rectangle 6">
            <a:extLst>
              <a:ext uri="{FF2B5EF4-FFF2-40B4-BE49-F238E27FC236}">
                <a16:creationId xmlns:a16="http://schemas.microsoft.com/office/drawing/2014/main" id="{22B184DB-E7AD-0925-B694-230AC9806346}"/>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4169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Methodology</a:t>
            </a:r>
            <a:endParaRPr lang="en-US" sz="4450" dirty="0"/>
          </a:p>
        </p:txBody>
      </p:sp>
      <p:sp>
        <p:nvSpPr>
          <p:cNvPr id="3" name="Text 1"/>
          <p:cNvSpPr/>
          <p:nvPr/>
        </p:nvSpPr>
        <p:spPr>
          <a:xfrm>
            <a:off x="793790" y="23040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Mona Sans Light" pitchFamily="34" charset="0"/>
                <a:ea typeface="Mona Sans Light" pitchFamily="34" charset="-122"/>
                <a:cs typeface="Mona Sans Light" pitchFamily="34" charset="-120"/>
              </a:rPr>
              <a:t>01</a:t>
            </a:r>
            <a:endParaRPr lang="en-US" sz="1750" dirty="0"/>
          </a:p>
        </p:txBody>
      </p:sp>
      <p:sp>
        <p:nvSpPr>
          <p:cNvPr id="4" name="Shape 2"/>
          <p:cNvSpPr/>
          <p:nvPr/>
        </p:nvSpPr>
        <p:spPr>
          <a:xfrm>
            <a:off x="793790" y="2659142"/>
            <a:ext cx="4196358" cy="30480"/>
          </a:xfrm>
          <a:prstGeom prst="rect">
            <a:avLst/>
          </a:prstGeom>
          <a:solidFill>
            <a:srgbClr val="373B48"/>
          </a:solidFill>
          <a:ln/>
        </p:spPr>
      </p:sp>
      <p:sp>
        <p:nvSpPr>
          <p:cNvPr id="5" name="Text 3"/>
          <p:cNvSpPr/>
          <p:nvPr/>
        </p:nvSpPr>
        <p:spPr>
          <a:xfrm>
            <a:off x="793790" y="28334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Cell Implementation</a:t>
            </a:r>
            <a:endParaRPr lang="en-US" sz="2200" dirty="0"/>
          </a:p>
        </p:txBody>
      </p:sp>
      <p:sp>
        <p:nvSpPr>
          <p:cNvPr id="6" name="Text 4"/>
          <p:cNvSpPr/>
          <p:nvPr/>
        </p:nvSpPr>
        <p:spPr>
          <a:xfrm>
            <a:off x="793790" y="3323868"/>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Both architectures implemented in identical CMOS technology using Cadence Virtuoso with comparable transistor sizing.</a:t>
            </a:r>
            <a:endParaRPr lang="en-US" sz="1750" dirty="0"/>
          </a:p>
        </p:txBody>
      </p:sp>
      <p:sp>
        <p:nvSpPr>
          <p:cNvPr id="7" name="Text 5"/>
          <p:cNvSpPr/>
          <p:nvPr/>
        </p:nvSpPr>
        <p:spPr>
          <a:xfrm>
            <a:off x="5216962" y="23040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Mona Sans Light" pitchFamily="34" charset="0"/>
                <a:ea typeface="Mona Sans Light" pitchFamily="34" charset="-122"/>
                <a:cs typeface="Mona Sans Light" pitchFamily="34" charset="-120"/>
              </a:rPr>
              <a:t>02</a:t>
            </a:r>
            <a:endParaRPr lang="en-US" sz="1750" dirty="0"/>
          </a:p>
        </p:txBody>
      </p:sp>
      <p:sp>
        <p:nvSpPr>
          <p:cNvPr id="8" name="Shape 6"/>
          <p:cNvSpPr/>
          <p:nvPr/>
        </p:nvSpPr>
        <p:spPr>
          <a:xfrm>
            <a:off x="5216962" y="2659142"/>
            <a:ext cx="4196358" cy="30480"/>
          </a:xfrm>
          <a:prstGeom prst="rect">
            <a:avLst/>
          </a:prstGeom>
          <a:solidFill>
            <a:srgbClr val="373B48"/>
          </a:solidFill>
          <a:ln/>
        </p:spPr>
      </p:sp>
      <p:sp>
        <p:nvSpPr>
          <p:cNvPr id="9" name="Text 7"/>
          <p:cNvSpPr/>
          <p:nvPr/>
        </p:nvSpPr>
        <p:spPr>
          <a:xfrm>
            <a:off x="5216962" y="2833449"/>
            <a:ext cx="3382923"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Testbench Configuration</a:t>
            </a:r>
            <a:endParaRPr lang="en-US" sz="2200" dirty="0"/>
          </a:p>
        </p:txBody>
      </p:sp>
      <p:sp>
        <p:nvSpPr>
          <p:cNvPr id="10" name="Text 8"/>
          <p:cNvSpPr/>
          <p:nvPr/>
        </p:nvSpPr>
        <p:spPr>
          <a:xfrm>
            <a:off x="5216962" y="3323868"/>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Dedicated testbench with precharge circuitry, control signals, and load capacitances for realistic interconnect emulation.</a:t>
            </a:r>
            <a:endParaRPr lang="en-US" sz="1750" dirty="0"/>
          </a:p>
        </p:txBody>
      </p:sp>
      <p:sp>
        <p:nvSpPr>
          <p:cNvPr id="11" name="Text 9"/>
          <p:cNvSpPr/>
          <p:nvPr/>
        </p:nvSpPr>
        <p:spPr>
          <a:xfrm>
            <a:off x="9640133" y="23040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Mona Sans Light" pitchFamily="34" charset="0"/>
                <a:ea typeface="Mona Sans Light" pitchFamily="34" charset="-122"/>
                <a:cs typeface="Mona Sans Light" pitchFamily="34" charset="-120"/>
              </a:rPr>
              <a:t>03</a:t>
            </a:r>
            <a:endParaRPr lang="en-US" sz="1750" dirty="0"/>
          </a:p>
        </p:txBody>
      </p:sp>
      <p:sp>
        <p:nvSpPr>
          <p:cNvPr id="12" name="Shape 10"/>
          <p:cNvSpPr/>
          <p:nvPr/>
        </p:nvSpPr>
        <p:spPr>
          <a:xfrm>
            <a:off x="9640133" y="2659142"/>
            <a:ext cx="4196358" cy="30480"/>
          </a:xfrm>
          <a:prstGeom prst="rect">
            <a:avLst/>
          </a:prstGeom>
          <a:solidFill>
            <a:srgbClr val="373B48"/>
          </a:solidFill>
          <a:ln/>
        </p:spPr>
      </p:sp>
      <p:sp>
        <p:nvSpPr>
          <p:cNvPr id="13" name="Text 11"/>
          <p:cNvSpPr/>
          <p:nvPr/>
        </p:nvSpPr>
        <p:spPr>
          <a:xfrm>
            <a:off x="9640133" y="28334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SNM Extraction</a:t>
            </a:r>
            <a:endParaRPr lang="en-US" sz="2200" dirty="0"/>
          </a:p>
        </p:txBody>
      </p:sp>
      <p:sp>
        <p:nvSpPr>
          <p:cNvPr id="14" name="Text 12"/>
          <p:cNvSpPr/>
          <p:nvPr/>
        </p:nvSpPr>
        <p:spPr>
          <a:xfrm>
            <a:off x="9640133" y="3323868"/>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Static noise margin measured using DC sweep analysis and butterfly curve construction for hold and read modes.</a:t>
            </a:r>
            <a:endParaRPr lang="en-US" sz="1750" dirty="0"/>
          </a:p>
        </p:txBody>
      </p:sp>
      <p:sp>
        <p:nvSpPr>
          <p:cNvPr id="15" name="Text 13"/>
          <p:cNvSpPr/>
          <p:nvPr/>
        </p:nvSpPr>
        <p:spPr>
          <a:xfrm>
            <a:off x="793790" y="517231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Mona Sans Light" pitchFamily="34" charset="0"/>
                <a:ea typeface="Mona Sans Light" pitchFamily="34" charset="-122"/>
                <a:cs typeface="Mona Sans Light" pitchFamily="34" charset="-120"/>
              </a:rPr>
              <a:t>04</a:t>
            </a:r>
            <a:endParaRPr lang="en-US" sz="1750" dirty="0"/>
          </a:p>
        </p:txBody>
      </p:sp>
      <p:sp>
        <p:nvSpPr>
          <p:cNvPr id="16" name="Shape 14"/>
          <p:cNvSpPr/>
          <p:nvPr/>
        </p:nvSpPr>
        <p:spPr>
          <a:xfrm>
            <a:off x="793790" y="5527357"/>
            <a:ext cx="6407944" cy="30480"/>
          </a:xfrm>
          <a:prstGeom prst="rect">
            <a:avLst/>
          </a:prstGeom>
          <a:solidFill>
            <a:srgbClr val="373B48"/>
          </a:solidFill>
          <a:ln/>
        </p:spPr>
      </p:sp>
      <p:sp>
        <p:nvSpPr>
          <p:cNvPr id="17" name="Text 15"/>
          <p:cNvSpPr/>
          <p:nvPr/>
        </p:nvSpPr>
        <p:spPr>
          <a:xfrm>
            <a:off x="793790" y="57016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Transient Analysis</a:t>
            </a:r>
            <a:endParaRPr lang="en-US" sz="2200" dirty="0"/>
          </a:p>
        </p:txBody>
      </p:sp>
      <p:sp>
        <p:nvSpPr>
          <p:cNvPr id="18" name="Text 16"/>
          <p:cNvSpPr/>
          <p:nvPr/>
        </p:nvSpPr>
        <p:spPr>
          <a:xfrm>
            <a:off x="793790" y="6192083"/>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Read and write delays measured from wordline assertion to valid signal observation during dynamic operation.</a:t>
            </a:r>
            <a:endParaRPr lang="en-US" sz="1750" dirty="0"/>
          </a:p>
        </p:txBody>
      </p:sp>
      <p:sp>
        <p:nvSpPr>
          <p:cNvPr id="19" name="Text 17"/>
          <p:cNvSpPr/>
          <p:nvPr/>
        </p:nvSpPr>
        <p:spPr>
          <a:xfrm>
            <a:off x="7428548" y="517231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Mona Sans Light" pitchFamily="34" charset="0"/>
                <a:ea typeface="Mona Sans Light" pitchFamily="34" charset="-122"/>
                <a:cs typeface="Mona Sans Light" pitchFamily="34" charset="-120"/>
              </a:rPr>
              <a:t>05</a:t>
            </a:r>
            <a:endParaRPr lang="en-US" sz="1750" dirty="0"/>
          </a:p>
        </p:txBody>
      </p:sp>
      <p:sp>
        <p:nvSpPr>
          <p:cNvPr id="20" name="Shape 18"/>
          <p:cNvSpPr/>
          <p:nvPr/>
        </p:nvSpPr>
        <p:spPr>
          <a:xfrm>
            <a:off x="7428548" y="5527357"/>
            <a:ext cx="6407944" cy="30480"/>
          </a:xfrm>
          <a:prstGeom prst="rect">
            <a:avLst/>
          </a:prstGeom>
          <a:solidFill>
            <a:srgbClr val="373B48"/>
          </a:solidFill>
          <a:ln/>
        </p:spPr>
      </p:sp>
      <p:sp>
        <p:nvSpPr>
          <p:cNvPr id="21" name="Text 19"/>
          <p:cNvSpPr/>
          <p:nvPr/>
        </p:nvSpPr>
        <p:spPr>
          <a:xfrm>
            <a:off x="7428548" y="57016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Power Measurement</a:t>
            </a:r>
            <a:endParaRPr lang="en-US" sz="2200" dirty="0"/>
          </a:p>
        </p:txBody>
      </p:sp>
      <p:sp>
        <p:nvSpPr>
          <p:cNvPr id="22" name="Text 20"/>
          <p:cNvSpPr/>
          <p:nvPr/>
        </p:nvSpPr>
        <p:spPr>
          <a:xfrm>
            <a:off x="7428548" y="6192083"/>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Average power extracted using transient current integration over complete operating cycles for read and write operations.</a:t>
            </a:r>
            <a:endParaRPr lang="en-US" sz="1750" dirty="0"/>
          </a:p>
        </p:txBody>
      </p:sp>
      <p:sp>
        <p:nvSpPr>
          <p:cNvPr id="23" name="Rectangle 22">
            <a:extLst>
              <a:ext uri="{FF2B5EF4-FFF2-40B4-BE49-F238E27FC236}">
                <a16:creationId xmlns:a16="http://schemas.microsoft.com/office/drawing/2014/main" id="{0586DB1D-9CE7-0AC6-8D4A-4F86ECE0CFE4}"/>
              </a:ext>
            </a:extLst>
          </p:cNvPr>
          <p:cNvSpPr/>
          <p:nvPr/>
        </p:nvSpPr>
        <p:spPr>
          <a:xfrm>
            <a:off x="12832773" y="7710054"/>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23342"/>
            <a:ext cx="7533442"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Static Noise Margin Results</a:t>
            </a:r>
            <a:endParaRPr lang="en-US" sz="4450" dirty="0"/>
          </a:p>
        </p:txBody>
      </p:sp>
      <p:pic>
        <p:nvPicPr>
          <p:cNvPr id="3" name="Image 0" descr="preencoded.png"/>
          <p:cNvPicPr>
            <a:picLocks noChangeAspect="1"/>
          </p:cNvPicPr>
          <p:nvPr/>
        </p:nvPicPr>
        <p:blipFill>
          <a:blip r:embed="rId3"/>
          <a:stretch>
            <a:fillRect/>
          </a:stretch>
        </p:blipFill>
        <p:spPr>
          <a:xfrm>
            <a:off x="793790" y="2327434"/>
            <a:ext cx="8284131" cy="4623673"/>
          </a:xfrm>
          <a:prstGeom prst="rect">
            <a:avLst/>
          </a:prstGeom>
        </p:spPr>
      </p:pic>
      <p:sp>
        <p:nvSpPr>
          <p:cNvPr id="4" name="Text 1"/>
          <p:cNvSpPr/>
          <p:nvPr/>
        </p:nvSpPr>
        <p:spPr>
          <a:xfrm>
            <a:off x="9638943" y="2306003"/>
            <a:ext cx="4056102" cy="425291"/>
          </a:xfrm>
          <a:prstGeom prst="rect">
            <a:avLst/>
          </a:prstGeom>
          <a:noFill/>
          <a:ln/>
        </p:spPr>
        <p:txBody>
          <a:bodyPr wrap="none" lIns="0" tIns="0" rIns="0" bIns="0" rtlCol="0" anchor="t"/>
          <a:lstStyle/>
          <a:p>
            <a:pPr marL="0" indent="0" algn="l">
              <a:lnSpc>
                <a:spcPts val="3300"/>
              </a:lnSpc>
              <a:buNone/>
            </a:pPr>
            <a:r>
              <a:rPr lang="en-US" sz="2650" dirty="0">
                <a:solidFill>
                  <a:srgbClr val="373B48"/>
                </a:solidFill>
                <a:latin typeface="Mona Sans Semi Bold" pitchFamily="34" charset="0"/>
                <a:ea typeface="Mona Sans Semi Bold" pitchFamily="34" charset="-122"/>
                <a:cs typeface="Mona Sans Semi Bold" pitchFamily="34" charset="-120"/>
              </a:rPr>
              <a:t>Significant Improvement</a:t>
            </a:r>
            <a:endParaRPr lang="en-US" sz="2650" dirty="0"/>
          </a:p>
        </p:txBody>
      </p:sp>
      <p:sp>
        <p:nvSpPr>
          <p:cNvPr id="5" name="Text 2"/>
          <p:cNvSpPr/>
          <p:nvPr/>
        </p:nvSpPr>
        <p:spPr>
          <a:xfrm>
            <a:off x="9638943" y="2958108"/>
            <a:ext cx="4205168"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The 7T SRAM exhibits a </a:t>
            </a:r>
            <a:r>
              <a:rPr lang="en-US" sz="1750" b="1" dirty="0">
                <a:solidFill>
                  <a:srgbClr val="373B48"/>
                </a:solidFill>
                <a:latin typeface="Funnel Sans" pitchFamily="34" charset="0"/>
                <a:ea typeface="Funnel Sans" pitchFamily="34" charset="-122"/>
                <a:cs typeface="Funnel Sans" pitchFamily="34" charset="-120"/>
              </a:rPr>
              <a:t>50% increase</a:t>
            </a:r>
            <a:r>
              <a:rPr lang="en-US" sz="1750" dirty="0">
                <a:solidFill>
                  <a:srgbClr val="52586B"/>
                </a:solidFill>
                <a:latin typeface="Funnel Sans" pitchFamily="34" charset="0"/>
                <a:ea typeface="Funnel Sans" pitchFamily="34" charset="-122"/>
                <a:cs typeface="Funnel Sans" pitchFamily="34" charset="-120"/>
              </a:rPr>
              <a:t> in static noise margin compared to conventional 6T architecture.</a:t>
            </a:r>
            <a:endParaRPr lang="en-US" sz="1750" dirty="0"/>
          </a:p>
        </p:txBody>
      </p:sp>
      <p:sp>
        <p:nvSpPr>
          <p:cNvPr id="6" name="Text 3"/>
          <p:cNvSpPr/>
          <p:nvPr/>
        </p:nvSpPr>
        <p:spPr>
          <a:xfrm>
            <a:off x="9638943" y="4250888"/>
            <a:ext cx="4205168" cy="1814513"/>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This improvement stems from complete isolation of the read operation from storage nodes, preventing bitline-induced voltage disturbance during read access.</a:t>
            </a:r>
            <a:endParaRPr lang="en-US" sz="1750" dirty="0"/>
          </a:p>
        </p:txBody>
      </p:sp>
      <p:sp>
        <p:nvSpPr>
          <p:cNvPr id="7" name="Text 4"/>
          <p:cNvSpPr/>
          <p:nvPr/>
        </p:nvSpPr>
        <p:spPr>
          <a:xfrm>
            <a:off x="9638943" y="6269474"/>
            <a:ext cx="4205168" cy="725805"/>
          </a:xfrm>
          <a:prstGeom prst="rect">
            <a:avLst/>
          </a:prstGeom>
          <a:noFill/>
          <a:ln/>
        </p:spPr>
        <p:txBody>
          <a:bodyPr wrap="square" lIns="0" tIns="0" rIns="0" bIns="0" rtlCol="0" anchor="t"/>
          <a:lstStyle/>
          <a:p>
            <a:pPr marL="0" indent="0" algn="l">
              <a:lnSpc>
                <a:spcPts val="2850"/>
              </a:lnSpc>
              <a:buNone/>
            </a:pPr>
            <a:r>
              <a:rPr lang="en-US" sz="1750" b="1" dirty="0">
                <a:solidFill>
                  <a:srgbClr val="52586B"/>
                </a:solidFill>
                <a:latin typeface="Funnel Sans" pitchFamily="34" charset="0"/>
                <a:ea typeface="Funnel Sans" pitchFamily="34" charset="-122"/>
                <a:cs typeface="Funnel Sans" pitchFamily="34" charset="-120"/>
              </a:rPr>
              <a:t>6T SNM:</a:t>
            </a:r>
            <a:r>
              <a:rPr lang="en-US" sz="1750" dirty="0">
                <a:solidFill>
                  <a:srgbClr val="52586B"/>
                </a:solidFill>
                <a:latin typeface="Funnel Sans" pitchFamily="34" charset="0"/>
                <a:ea typeface="Funnel Sans" pitchFamily="34" charset="-122"/>
                <a:cs typeface="Funnel Sans" pitchFamily="34" charset="-120"/>
              </a:rPr>
              <a:t> 0.31 V</a:t>
            </a:r>
            <a:endParaRPr lang="en-US" sz="1750" dirty="0"/>
          </a:p>
          <a:p>
            <a:pPr marL="0" indent="0" algn="l">
              <a:lnSpc>
                <a:spcPts val="2850"/>
              </a:lnSpc>
              <a:buNone/>
            </a:pPr>
            <a:r>
              <a:rPr lang="en-US" sz="1750" b="1" dirty="0">
                <a:solidFill>
                  <a:srgbClr val="52586B"/>
                </a:solidFill>
                <a:latin typeface="Funnel Sans" pitchFamily="34" charset="0"/>
                <a:ea typeface="Funnel Sans" pitchFamily="34" charset="-122"/>
                <a:cs typeface="Funnel Sans" pitchFamily="34" charset="-120"/>
              </a:rPr>
              <a:t>7T SNM:</a:t>
            </a:r>
            <a:r>
              <a:rPr lang="en-US" sz="1750" dirty="0">
                <a:solidFill>
                  <a:srgbClr val="52586B"/>
                </a:solidFill>
                <a:latin typeface="Funnel Sans" pitchFamily="34" charset="0"/>
                <a:ea typeface="Funnel Sans" pitchFamily="34" charset="-122"/>
                <a:cs typeface="Funnel Sans" pitchFamily="34" charset="-120"/>
              </a:rPr>
              <a:t> 0.47 V</a:t>
            </a:r>
            <a:endParaRPr lang="en-US" sz="1750" dirty="0"/>
          </a:p>
        </p:txBody>
      </p:sp>
      <p:sp>
        <p:nvSpPr>
          <p:cNvPr id="8" name="Rectangle 7">
            <a:extLst>
              <a:ext uri="{FF2B5EF4-FFF2-40B4-BE49-F238E27FC236}">
                <a16:creationId xmlns:a16="http://schemas.microsoft.com/office/drawing/2014/main" id="{D4DBFA0A-B3F3-9EDA-CF6A-10B25C651DD0}"/>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01817"/>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Power Consumption Analysis</a:t>
            </a:r>
            <a:endParaRPr lang="en-US" sz="4450" dirty="0"/>
          </a:p>
        </p:txBody>
      </p:sp>
      <p:sp>
        <p:nvSpPr>
          <p:cNvPr id="4" name="Text 1"/>
          <p:cNvSpPr/>
          <p:nvPr/>
        </p:nvSpPr>
        <p:spPr>
          <a:xfrm>
            <a:off x="793790" y="3072884"/>
            <a:ext cx="2329815" cy="748427"/>
          </a:xfrm>
          <a:prstGeom prst="rect">
            <a:avLst/>
          </a:prstGeom>
          <a:noFill/>
          <a:ln/>
        </p:spPr>
        <p:txBody>
          <a:bodyPr wrap="none" lIns="0" tIns="0" rIns="0" bIns="0" rtlCol="0" anchor="t"/>
          <a:lstStyle/>
          <a:p>
            <a:pPr marL="0" indent="0" algn="ctr">
              <a:lnSpc>
                <a:spcPts val="5850"/>
              </a:lnSpc>
              <a:buNone/>
            </a:pPr>
            <a:r>
              <a:rPr lang="en-US" sz="5850" dirty="0">
                <a:solidFill>
                  <a:srgbClr val="52586B"/>
                </a:solidFill>
                <a:latin typeface="Mona Sans Semi Bold" pitchFamily="34" charset="0"/>
                <a:ea typeface="Mona Sans Semi Bold" pitchFamily="34" charset="-122"/>
                <a:cs typeface="Mona Sans Semi Bold" pitchFamily="34" charset="-120"/>
              </a:rPr>
              <a:t>9.17</a:t>
            </a:r>
            <a:endParaRPr lang="en-US" sz="5850" dirty="0"/>
          </a:p>
        </p:txBody>
      </p:sp>
      <p:sp>
        <p:nvSpPr>
          <p:cNvPr id="5" name="Text 2"/>
          <p:cNvSpPr/>
          <p:nvPr/>
        </p:nvSpPr>
        <p:spPr>
          <a:xfrm>
            <a:off x="793790" y="4104680"/>
            <a:ext cx="2329815" cy="354330"/>
          </a:xfrm>
          <a:prstGeom prst="rect">
            <a:avLst/>
          </a:prstGeom>
          <a:noFill/>
          <a:ln/>
        </p:spPr>
        <p:txBody>
          <a:bodyPr wrap="none" lIns="0" tIns="0" rIns="0" bIns="0" rtlCol="0" anchor="t"/>
          <a:lstStyle/>
          <a:p>
            <a:pPr marL="0" indent="0" algn="ctr">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6T Power</a:t>
            </a:r>
            <a:endParaRPr lang="en-US" sz="2200" dirty="0"/>
          </a:p>
        </p:txBody>
      </p:sp>
      <p:sp>
        <p:nvSpPr>
          <p:cNvPr id="6" name="Text 3"/>
          <p:cNvSpPr/>
          <p:nvPr/>
        </p:nvSpPr>
        <p:spPr>
          <a:xfrm>
            <a:off x="793790" y="4595098"/>
            <a:ext cx="2329815" cy="725805"/>
          </a:xfrm>
          <a:prstGeom prst="rect">
            <a:avLst/>
          </a:prstGeom>
          <a:noFill/>
          <a:ln/>
        </p:spPr>
        <p:txBody>
          <a:bodyPr wrap="square" lIns="0" tIns="0" rIns="0" bIns="0" rtlCol="0" anchor="t"/>
          <a:lstStyle/>
          <a:p>
            <a:pPr marL="0" indent="0" algn="ctr">
              <a:lnSpc>
                <a:spcPts val="2850"/>
              </a:lnSpc>
              <a:buNone/>
            </a:pPr>
            <a:r>
              <a:rPr lang="en-US" sz="1750" dirty="0">
                <a:solidFill>
                  <a:srgbClr val="52586B"/>
                </a:solidFill>
                <a:latin typeface="Funnel Sans" pitchFamily="34" charset="0"/>
                <a:ea typeface="Funnel Sans" pitchFamily="34" charset="-122"/>
                <a:cs typeface="Funnel Sans" pitchFamily="34" charset="-120"/>
              </a:rPr>
              <a:t>Average power consumption in μW</a:t>
            </a:r>
            <a:endParaRPr lang="en-US" sz="1750" dirty="0"/>
          </a:p>
        </p:txBody>
      </p:sp>
      <p:sp>
        <p:nvSpPr>
          <p:cNvPr id="7" name="Text 4"/>
          <p:cNvSpPr/>
          <p:nvPr/>
        </p:nvSpPr>
        <p:spPr>
          <a:xfrm>
            <a:off x="3407093" y="3072884"/>
            <a:ext cx="2329815" cy="748427"/>
          </a:xfrm>
          <a:prstGeom prst="rect">
            <a:avLst/>
          </a:prstGeom>
          <a:noFill/>
          <a:ln/>
        </p:spPr>
        <p:txBody>
          <a:bodyPr wrap="none" lIns="0" tIns="0" rIns="0" bIns="0" rtlCol="0" anchor="t"/>
          <a:lstStyle/>
          <a:p>
            <a:pPr marL="0" indent="0" algn="ctr">
              <a:lnSpc>
                <a:spcPts val="5850"/>
              </a:lnSpc>
              <a:buNone/>
            </a:pPr>
            <a:r>
              <a:rPr lang="en-US" sz="5850" dirty="0">
                <a:solidFill>
                  <a:srgbClr val="52586B"/>
                </a:solidFill>
                <a:latin typeface="Mona Sans Semi Bold" pitchFamily="34" charset="0"/>
                <a:ea typeface="Mona Sans Semi Bold" pitchFamily="34" charset="-122"/>
                <a:cs typeface="Mona Sans Semi Bold" pitchFamily="34" charset="-120"/>
              </a:rPr>
              <a:t>11.41</a:t>
            </a:r>
            <a:endParaRPr lang="en-US" sz="5850" dirty="0"/>
          </a:p>
        </p:txBody>
      </p:sp>
      <p:sp>
        <p:nvSpPr>
          <p:cNvPr id="8" name="Text 5"/>
          <p:cNvSpPr/>
          <p:nvPr/>
        </p:nvSpPr>
        <p:spPr>
          <a:xfrm>
            <a:off x="3407093" y="4104680"/>
            <a:ext cx="2329815" cy="354330"/>
          </a:xfrm>
          <a:prstGeom prst="rect">
            <a:avLst/>
          </a:prstGeom>
          <a:noFill/>
          <a:ln/>
        </p:spPr>
        <p:txBody>
          <a:bodyPr wrap="none" lIns="0" tIns="0" rIns="0" bIns="0" rtlCol="0" anchor="t"/>
          <a:lstStyle/>
          <a:p>
            <a:pPr marL="0" indent="0" algn="ctr">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7T Power</a:t>
            </a:r>
            <a:endParaRPr lang="en-US" sz="2200" dirty="0"/>
          </a:p>
        </p:txBody>
      </p:sp>
      <p:sp>
        <p:nvSpPr>
          <p:cNvPr id="9" name="Text 6"/>
          <p:cNvSpPr/>
          <p:nvPr/>
        </p:nvSpPr>
        <p:spPr>
          <a:xfrm>
            <a:off x="3407093" y="4595098"/>
            <a:ext cx="2329815" cy="725805"/>
          </a:xfrm>
          <a:prstGeom prst="rect">
            <a:avLst/>
          </a:prstGeom>
          <a:noFill/>
          <a:ln/>
        </p:spPr>
        <p:txBody>
          <a:bodyPr wrap="square" lIns="0" tIns="0" rIns="0" bIns="0" rtlCol="0" anchor="t"/>
          <a:lstStyle/>
          <a:p>
            <a:pPr marL="0" indent="0" algn="ctr">
              <a:lnSpc>
                <a:spcPts val="2850"/>
              </a:lnSpc>
              <a:buNone/>
            </a:pPr>
            <a:r>
              <a:rPr lang="en-US" sz="1750" dirty="0">
                <a:solidFill>
                  <a:srgbClr val="52586B"/>
                </a:solidFill>
                <a:latin typeface="Funnel Sans" pitchFamily="34" charset="0"/>
                <a:ea typeface="Funnel Sans" pitchFamily="34" charset="-122"/>
                <a:cs typeface="Funnel Sans" pitchFamily="34" charset="-120"/>
              </a:rPr>
              <a:t>Average power consumption in μW</a:t>
            </a:r>
            <a:endParaRPr lang="en-US" sz="1750" dirty="0"/>
          </a:p>
        </p:txBody>
      </p:sp>
      <p:sp>
        <p:nvSpPr>
          <p:cNvPr id="10" name="Text 7"/>
          <p:cNvSpPr/>
          <p:nvPr/>
        </p:nvSpPr>
        <p:spPr>
          <a:xfrm>
            <a:off x="6020395" y="3072884"/>
            <a:ext cx="2329815" cy="748427"/>
          </a:xfrm>
          <a:prstGeom prst="rect">
            <a:avLst/>
          </a:prstGeom>
          <a:noFill/>
          <a:ln/>
        </p:spPr>
        <p:txBody>
          <a:bodyPr wrap="none" lIns="0" tIns="0" rIns="0" bIns="0" rtlCol="0" anchor="t"/>
          <a:lstStyle/>
          <a:p>
            <a:pPr marL="0" indent="0" algn="ctr">
              <a:lnSpc>
                <a:spcPts val="5850"/>
              </a:lnSpc>
              <a:buNone/>
            </a:pPr>
            <a:r>
              <a:rPr lang="en-US" sz="5850" dirty="0">
                <a:solidFill>
                  <a:srgbClr val="52586B"/>
                </a:solidFill>
                <a:latin typeface="Mona Sans Semi Bold" pitchFamily="34" charset="0"/>
                <a:ea typeface="Mona Sans Semi Bold" pitchFamily="34" charset="-122"/>
                <a:cs typeface="Mona Sans Semi Bold" pitchFamily="34" charset="-120"/>
              </a:rPr>
              <a:t>24%</a:t>
            </a:r>
            <a:endParaRPr lang="en-US" sz="5850" dirty="0"/>
          </a:p>
        </p:txBody>
      </p:sp>
      <p:sp>
        <p:nvSpPr>
          <p:cNvPr id="11" name="Text 8"/>
          <p:cNvSpPr/>
          <p:nvPr/>
        </p:nvSpPr>
        <p:spPr>
          <a:xfrm>
            <a:off x="6020395" y="4104680"/>
            <a:ext cx="2329815" cy="354330"/>
          </a:xfrm>
          <a:prstGeom prst="rect">
            <a:avLst/>
          </a:prstGeom>
          <a:noFill/>
          <a:ln/>
        </p:spPr>
        <p:txBody>
          <a:bodyPr wrap="none" lIns="0" tIns="0" rIns="0" bIns="0" rtlCol="0" anchor="t"/>
          <a:lstStyle/>
          <a:p>
            <a:pPr marL="0" indent="0" algn="ctr">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Power Increase</a:t>
            </a:r>
            <a:endParaRPr lang="en-US" sz="2200" dirty="0"/>
          </a:p>
        </p:txBody>
      </p:sp>
      <p:sp>
        <p:nvSpPr>
          <p:cNvPr id="12" name="Text 9"/>
          <p:cNvSpPr/>
          <p:nvPr/>
        </p:nvSpPr>
        <p:spPr>
          <a:xfrm>
            <a:off x="6020395" y="4595098"/>
            <a:ext cx="2329815" cy="725805"/>
          </a:xfrm>
          <a:prstGeom prst="rect">
            <a:avLst/>
          </a:prstGeom>
          <a:noFill/>
          <a:ln/>
        </p:spPr>
        <p:txBody>
          <a:bodyPr wrap="square" lIns="0" tIns="0" rIns="0" bIns="0" rtlCol="0" anchor="t"/>
          <a:lstStyle/>
          <a:p>
            <a:pPr marL="0" indent="0" algn="ctr">
              <a:lnSpc>
                <a:spcPts val="2850"/>
              </a:lnSpc>
              <a:buNone/>
            </a:pPr>
            <a:r>
              <a:rPr lang="en-US" sz="1750" dirty="0">
                <a:solidFill>
                  <a:srgbClr val="52586B"/>
                </a:solidFill>
                <a:latin typeface="Funnel Sans" pitchFamily="34" charset="0"/>
                <a:ea typeface="Funnel Sans" pitchFamily="34" charset="-122"/>
                <a:cs typeface="Funnel Sans" pitchFamily="34" charset="-120"/>
              </a:rPr>
              <a:t>Additional overhead in 7T architecture</a:t>
            </a:r>
            <a:endParaRPr lang="en-US" sz="1750" dirty="0"/>
          </a:p>
        </p:txBody>
      </p:sp>
      <p:sp>
        <p:nvSpPr>
          <p:cNvPr id="13" name="Text 10"/>
          <p:cNvSpPr/>
          <p:nvPr/>
        </p:nvSpPr>
        <p:spPr>
          <a:xfrm>
            <a:off x="793790" y="557605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The 7T SRAM shows moderate power increase due to additional read transistor and control circuitry. However, the overhead remains justified by substantial improvement in read stability, with dynamic power dominated during read operations where enhanced robustness is most critical.</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50883"/>
            <a:ext cx="8571071"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Timing Performance Trade-offs</a:t>
            </a:r>
            <a:endParaRPr lang="en-US" sz="4450" dirty="0"/>
          </a:p>
        </p:txBody>
      </p:sp>
      <p:sp>
        <p:nvSpPr>
          <p:cNvPr id="3" name="Shape 1"/>
          <p:cNvSpPr/>
          <p:nvPr/>
        </p:nvSpPr>
        <p:spPr>
          <a:xfrm>
            <a:off x="793790" y="2626638"/>
            <a:ext cx="5474137" cy="283488"/>
          </a:xfrm>
          <a:prstGeom prst="roundRect">
            <a:avLst>
              <a:gd name="adj" fmla="val 33606"/>
            </a:avLst>
          </a:prstGeom>
          <a:solidFill>
            <a:srgbClr val="E2E4E9"/>
          </a:solidFill>
          <a:ln w="7620">
            <a:solidFill>
              <a:srgbClr val="C8CACF"/>
            </a:solidFill>
            <a:prstDash val="solid"/>
          </a:ln>
        </p:spPr>
      </p:sp>
      <p:sp>
        <p:nvSpPr>
          <p:cNvPr id="4" name="Shape 2"/>
          <p:cNvSpPr/>
          <p:nvPr/>
        </p:nvSpPr>
        <p:spPr>
          <a:xfrm>
            <a:off x="793790" y="2626638"/>
            <a:ext cx="2085618" cy="283488"/>
          </a:xfrm>
          <a:prstGeom prst="roundRect">
            <a:avLst>
              <a:gd name="adj" fmla="val 33606"/>
            </a:avLst>
          </a:prstGeom>
          <a:solidFill>
            <a:srgbClr val="373B48"/>
          </a:solidFill>
          <a:ln/>
        </p:spPr>
      </p:sp>
      <p:sp>
        <p:nvSpPr>
          <p:cNvPr id="5" name="Text 3"/>
          <p:cNvSpPr/>
          <p:nvPr/>
        </p:nvSpPr>
        <p:spPr>
          <a:xfrm>
            <a:off x="6437948" y="2626638"/>
            <a:ext cx="735449" cy="283488"/>
          </a:xfrm>
          <a:prstGeom prst="rect">
            <a:avLst/>
          </a:prstGeom>
          <a:noFill/>
          <a:ln/>
        </p:spPr>
        <p:txBody>
          <a:bodyPr wrap="none" lIns="0" tIns="0" rIns="0" bIns="0" rtlCol="0" anchor="t"/>
          <a:lstStyle/>
          <a:p>
            <a:pPr marL="0" indent="0" algn="l">
              <a:lnSpc>
                <a:spcPts val="2200"/>
              </a:lnSpc>
              <a:buNone/>
            </a:pPr>
            <a:r>
              <a:rPr lang="en-US" sz="2200" dirty="0">
                <a:solidFill>
                  <a:srgbClr val="52586B"/>
                </a:solidFill>
                <a:latin typeface="Mona Sans Semi Bold" pitchFamily="34" charset="0"/>
                <a:ea typeface="Mona Sans Semi Bold" pitchFamily="34" charset="-122"/>
                <a:cs typeface="Mona Sans Semi Bold" pitchFamily="34" charset="-120"/>
              </a:rPr>
              <a:t>38.1%</a:t>
            </a:r>
            <a:endParaRPr lang="en-US" sz="2200" dirty="0"/>
          </a:p>
        </p:txBody>
      </p:sp>
      <p:sp>
        <p:nvSpPr>
          <p:cNvPr id="6" name="Text 4"/>
          <p:cNvSpPr/>
          <p:nvPr/>
        </p:nvSpPr>
        <p:spPr>
          <a:xfrm>
            <a:off x="793790" y="319349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Read Delay Increase</a:t>
            </a:r>
            <a:endParaRPr lang="en-US" sz="2200" dirty="0"/>
          </a:p>
        </p:txBody>
      </p:sp>
      <p:sp>
        <p:nvSpPr>
          <p:cNvPr id="7" name="Text 5"/>
          <p:cNvSpPr/>
          <p:nvPr/>
        </p:nvSpPr>
        <p:spPr>
          <a:xfrm>
            <a:off x="793790" y="3683913"/>
            <a:ext cx="6379607" cy="362903"/>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7T vs 6T architecture</a:t>
            </a:r>
            <a:endParaRPr lang="en-US" sz="1750" dirty="0"/>
          </a:p>
        </p:txBody>
      </p:sp>
      <p:sp>
        <p:nvSpPr>
          <p:cNvPr id="8" name="Shape 6"/>
          <p:cNvSpPr/>
          <p:nvPr/>
        </p:nvSpPr>
        <p:spPr>
          <a:xfrm>
            <a:off x="7456884" y="2626638"/>
            <a:ext cx="5407462" cy="283488"/>
          </a:xfrm>
          <a:prstGeom prst="roundRect">
            <a:avLst>
              <a:gd name="adj" fmla="val 33606"/>
            </a:avLst>
          </a:prstGeom>
          <a:solidFill>
            <a:srgbClr val="E2E4E9"/>
          </a:solidFill>
          <a:ln w="7620">
            <a:solidFill>
              <a:srgbClr val="C8CACF"/>
            </a:solidFill>
            <a:prstDash val="solid"/>
          </a:ln>
        </p:spPr>
      </p:sp>
      <p:sp>
        <p:nvSpPr>
          <p:cNvPr id="9" name="Shape 7"/>
          <p:cNvSpPr/>
          <p:nvPr/>
        </p:nvSpPr>
        <p:spPr>
          <a:xfrm>
            <a:off x="7456884" y="2626638"/>
            <a:ext cx="2633424" cy="283488"/>
          </a:xfrm>
          <a:prstGeom prst="roundRect">
            <a:avLst>
              <a:gd name="adj" fmla="val 33606"/>
            </a:avLst>
          </a:prstGeom>
          <a:solidFill>
            <a:srgbClr val="373B48"/>
          </a:solidFill>
          <a:ln/>
        </p:spPr>
      </p:sp>
      <p:sp>
        <p:nvSpPr>
          <p:cNvPr id="10" name="Text 8"/>
          <p:cNvSpPr/>
          <p:nvPr/>
        </p:nvSpPr>
        <p:spPr>
          <a:xfrm>
            <a:off x="13034367" y="2626638"/>
            <a:ext cx="802243" cy="283488"/>
          </a:xfrm>
          <a:prstGeom prst="rect">
            <a:avLst/>
          </a:prstGeom>
          <a:noFill/>
          <a:ln/>
        </p:spPr>
        <p:txBody>
          <a:bodyPr wrap="none" lIns="0" tIns="0" rIns="0" bIns="0" rtlCol="0" anchor="t"/>
          <a:lstStyle/>
          <a:p>
            <a:pPr marL="0" indent="0" algn="l">
              <a:lnSpc>
                <a:spcPts val="2200"/>
              </a:lnSpc>
              <a:buNone/>
            </a:pPr>
            <a:r>
              <a:rPr lang="en-US" sz="2200" dirty="0">
                <a:solidFill>
                  <a:srgbClr val="52586B"/>
                </a:solidFill>
                <a:latin typeface="Mona Sans Semi Bold" pitchFamily="34" charset="0"/>
                <a:ea typeface="Mona Sans Semi Bold" pitchFamily="34" charset="-122"/>
                <a:cs typeface="Mona Sans Semi Bold" pitchFamily="34" charset="-120"/>
              </a:rPr>
              <a:t>48.7%</a:t>
            </a:r>
            <a:endParaRPr lang="en-US" sz="2200" dirty="0"/>
          </a:p>
        </p:txBody>
      </p:sp>
      <p:sp>
        <p:nvSpPr>
          <p:cNvPr id="11" name="Text 9"/>
          <p:cNvSpPr/>
          <p:nvPr/>
        </p:nvSpPr>
        <p:spPr>
          <a:xfrm>
            <a:off x="7456884" y="319349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Write Delay Increase</a:t>
            </a:r>
            <a:endParaRPr lang="en-US" sz="2200" dirty="0"/>
          </a:p>
        </p:txBody>
      </p:sp>
      <p:sp>
        <p:nvSpPr>
          <p:cNvPr id="12" name="Text 10"/>
          <p:cNvSpPr/>
          <p:nvPr/>
        </p:nvSpPr>
        <p:spPr>
          <a:xfrm>
            <a:off x="7456884" y="3683913"/>
            <a:ext cx="6379726" cy="362903"/>
          </a:xfrm>
          <a:prstGeom prst="rect">
            <a:avLst/>
          </a:prstGeom>
          <a:noFill/>
          <a:ln/>
        </p:spPr>
        <p:txBody>
          <a:bodyPr wrap="non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7T vs 6T architecture</a:t>
            </a:r>
            <a:endParaRPr lang="en-US" sz="1750" dirty="0"/>
          </a:p>
        </p:txBody>
      </p:sp>
      <p:sp>
        <p:nvSpPr>
          <p:cNvPr id="13" name="Text 11"/>
          <p:cNvSpPr/>
          <p:nvPr/>
        </p:nvSpPr>
        <p:spPr>
          <a:xfrm>
            <a:off x="793790" y="452878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73B48"/>
                </a:solidFill>
                <a:latin typeface="Mona Sans Semi Bold" pitchFamily="34" charset="0"/>
                <a:ea typeface="Mona Sans Semi Bold" pitchFamily="34" charset="-122"/>
                <a:cs typeface="Mona Sans Semi Bold" pitchFamily="34" charset="-120"/>
              </a:rPr>
              <a:t>6T Advantages</a:t>
            </a:r>
            <a:endParaRPr lang="en-US" sz="2200" dirty="0"/>
          </a:p>
        </p:txBody>
      </p:sp>
      <p:sp>
        <p:nvSpPr>
          <p:cNvPr id="14" name="Text 12"/>
          <p:cNvSpPr/>
          <p:nvPr/>
        </p:nvSpPr>
        <p:spPr>
          <a:xfrm>
            <a:off x="793790" y="5109924"/>
            <a:ext cx="6244709"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Lower read delay: 1.18 ns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Lower write delay: 0.92 ns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Direct access mechanism</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Stronger pull-down paths</a:t>
            </a:r>
            <a:endParaRPr lang="en-US" sz="1750" dirty="0"/>
          </a:p>
        </p:txBody>
      </p:sp>
      <p:sp>
        <p:nvSpPr>
          <p:cNvPr id="15" name="Text 13"/>
          <p:cNvSpPr/>
          <p:nvPr/>
        </p:nvSpPr>
        <p:spPr>
          <a:xfrm>
            <a:off x="7599521" y="452878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73B48"/>
                </a:solidFill>
                <a:latin typeface="Mona Sans Semi Bold" pitchFamily="34" charset="0"/>
                <a:ea typeface="Mona Sans Semi Bold" pitchFamily="34" charset="-122"/>
                <a:cs typeface="Mona Sans Semi Bold" pitchFamily="34" charset="-120"/>
              </a:rPr>
              <a:t>7T Trade-offs</a:t>
            </a:r>
            <a:endParaRPr lang="en-US" sz="2200" dirty="0"/>
          </a:p>
        </p:txBody>
      </p:sp>
      <p:sp>
        <p:nvSpPr>
          <p:cNvPr id="16" name="Text 14"/>
          <p:cNvSpPr/>
          <p:nvPr/>
        </p:nvSpPr>
        <p:spPr>
          <a:xfrm>
            <a:off x="7599521" y="5109924"/>
            <a:ext cx="6244709"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Higher read delay: 1.63 ns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Higher write delay: 1.34 ns</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Single-ended sensing</a:t>
            </a:r>
            <a:endParaRPr lang="en-US" sz="1750" dirty="0"/>
          </a:p>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Additional parasitic capacitance</a:t>
            </a:r>
            <a:endParaRPr lang="en-US" sz="1750" dirty="0"/>
          </a:p>
        </p:txBody>
      </p:sp>
      <p:sp>
        <p:nvSpPr>
          <p:cNvPr id="17" name="Rectangle 16">
            <a:extLst>
              <a:ext uri="{FF2B5EF4-FFF2-40B4-BE49-F238E27FC236}">
                <a16:creationId xmlns:a16="http://schemas.microsoft.com/office/drawing/2014/main" id="{DBF08399-9E44-6D15-7064-35E26AEF2F7C}"/>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67239"/>
            <a:ext cx="6837164"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Key Trade-offs Summary</a:t>
            </a:r>
            <a:endParaRPr lang="en-US" sz="4450" dirty="0"/>
          </a:p>
        </p:txBody>
      </p:sp>
      <p:sp>
        <p:nvSpPr>
          <p:cNvPr id="4" name="Shape 1"/>
          <p:cNvSpPr/>
          <p:nvPr/>
        </p:nvSpPr>
        <p:spPr>
          <a:xfrm>
            <a:off x="793790" y="1816179"/>
            <a:ext cx="7556421" cy="1730812"/>
          </a:xfrm>
          <a:prstGeom prst="roundRect">
            <a:avLst>
              <a:gd name="adj" fmla="val 8453"/>
            </a:avLst>
          </a:prstGeom>
          <a:solidFill>
            <a:srgbClr val="FFFFFF">
              <a:alpha val="95000"/>
            </a:srgbClr>
          </a:solidFill>
          <a:ln w="30480">
            <a:solidFill>
              <a:srgbClr val="373B48"/>
            </a:solidFill>
            <a:prstDash val="solid"/>
          </a:ln>
        </p:spPr>
      </p:sp>
      <p:sp>
        <p:nvSpPr>
          <p:cNvPr id="5" name="Shape 2"/>
          <p:cNvSpPr/>
          <p:nvPr/>
        </p:nvSpPr>
        <p:spPr>
          <a:xfrm>
            <a:off x="763310" y="1816179"/>
            <a:ext cx="121920" cy="1730812"/>
          </a:xfrm>
          <a:prstGeom prst="roundRect">
            <a:avLst>
              <a:gd name="adj" fmla="val 78139"/>
            </a:avLst>
          </a:prstGeom>
          <a:solidFill>
            <a:srgbClr val="373B48"/>
          </a:solidFill>
          <a:ln/>
        </p:spPr>
      </p:sp>
      <p:sp>
        <p:nvSpPr>
          <p:cNvPr id="6" name="Text 3"/>
          <p:cNvSpPr/>
          <p:nvPr/>
        </p:nvSpPr>
        <p:spPr>
          <a:xfrm>
            <a:off x="1142524" y="2073473"/>
            <a:ext cx="2904292"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Stability vs Efficiency</a:t>
            </a:r>
            <a:endParaRPr lang="en-US" sz="2200" dirty="0"/>
          </a:p>
        </p:txBody>
      </p:sp>
      <p:sp>
        <p:nvSpPr>
          <p:cNvPr id="7" name="Text 4"/>
          <p:cNvSpPr/>
          <p:nvPr/>
        </p:nvSpPr>
        <p:spPr>
          <a:xfrm>
            <a:off x="1142524" y="2563892"/>
            <a:ext cx="6950393"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7T SRAM provides superior read stability and noise margin at the cost of increased delay and power consumption.</a:t>
            </a:r>
            <a:endParaRPr lang="en-US" sz="1750" dirty="0"/>
          </a:p>
        </p:txBody>
      </p:sp>
      <p:sp>
        <p:nvSpPr>
          <p:cNvPr id="8" name="Shape 5"/>
          <p:cNvSpPr/>
          <p:nvPr/>
        </p:nvSpPr>
        <p:spPr>
          <a:xfrm>
            <a:off x="793790" y="3773805"/>
            <a:ext cx="7556421" cy="1730812"/>
          </a:xfrm>
          <a:prstGeom prst="roundRect">
            <a:avLst>
              <a:gd name="adj" fmla="val 8453"/>
            </a:avLst>
          </a:prstGeom>
          <a:solidFill>
            <a:srgbClr val="FFFFFF">
              <a:alpha val="95000"/>
            </a:srgbClr>
          </a:solidFill>
          <a:ln w="30480">
            <a:solidFill>
              <a:srgbClr val="484E5F"/>
            </a:solidFill>
            <a:prstDash val="solid"/>
          </a:ln>
        </p:spPr>
      </p:sp>
      <p:sp>
        <p:nvSpPr>
          <p:cNvPr id="9" name="Shape 6"/>
          <p:cNvSpPr/>
          <p:nvPr/>
        </p:nvSpPr>
        <p:spPr>
          <a:xfrm>
            <a:off x="763310" y="3773805"/>
            <a:ext cx="121920" cy="1730812"/>
          </a:xfrm>
          <a:prstGeom prst="roundRect">
            <a:avLst>
              <a:gd name="adj" fmla="val 78139"/>
            </a:avLst>
          </a:prstGeom>
          <a:solidFill>
            <a:srgbClr val="484E5F"/>
          </a:solidFill>
          <a:ln/>
        </p:spPr>
      </p:sp>
      <p:sp>
        <p:nvSpPr>
          <p:cNvPr id="10" name="Text 7"/>
          <p:cNvSpPr/>
          <p:nvPr/>
        </p:nvSpPr>
        <p:spPr>
          <a:xfrm>
            <a:off x="1142524" y="40310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Area Overhead</a:t>
            </a:r>
            <a:endParaRPr lang="en-US" sz="2200" dirty="0"/>
          </a:p>
        </p:txBody>
      </p:sp>
      <p:sp>
        <p:nvSpPr>
          <p:cNvPr id="11" name="Text 8"/>
          <p:cNvSpPr/>
          <p:nvPr/>
        </p:nvSpPr>
        <p:spPr>
          <a:xfrm>
            <a:off x="1142524" y="4521517"/>
            <a:ext cx="6950393"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Additional transistor increases silicon area but enables reliable low-voltage operation in near-threshold regimes.</a:t>
            </a:r>
            <a:endParaRPr lang="en-US" sz="1750" dirty="0"/>
          </a:p>
        </p:txBody>
      </p:sp>
      <p:sp>
        <p:nvSpPr>
          <p:cNvPr id="12" name="Shape 9"/>
          <p:cNvSpPr/>
          <p:nvPr/>
        </p:nvSpPr>
        <p:spPr>
          <a:xfrm>
            <a:off x="793790" y="5731431"/>
            <a:ext cx="7556421" cy="1730812"/>
          </a:xfrm>
          <a:prstGeom prst="roundRect">
            <a:avLst>
              <a:gd name="adj" fmla="val 8453"/>
            </a:avLst>
          </a:prstGeom>
          <a:solidFill>
            <a:srgbClr val="FFFFFF">
              <a:alpha val="95000"/>
            </a:srgbClr>
          </a:solidFill>
          <a:ln w="30480">
            <a:solidFill>
              <a:srgbClr val="5C6378"/>
            </a:solidFill>
            <a:prstDash val="solid"/>
          </a:ln>
        </p:spPr>
      </p:sp>
      <p:sp>
        <p:nvSpPr>
          <p:cNvPr id="13" name="Shape 10"/>
          <p:cNvSpPr/>
          <p:nvPr/>
        </p:nvSpPr>
        <p:spPr>
          <a:xfrm>
            <a:off x="763310" y="5731431"/>
            <a:ext cx="121920" cy="1730812"/>
          </a:xfrm>
          <a:prstGeom prst="roundRect">
            <a:avLst>
              <a:gd name="adj" fmla="val 78139"/>
            </a:avLst>
          </a:prstGeom>
          <a:solidFill>
            <a:srgbClr val="5C6378"/>
          </a:solidFill>
          <a:ln/>
        </p:spPr>
      </p:sp>
      <p:sp>
        <p:nvSpPr>
          <p:cNvPr id="14" name="Text 11"/>
          <p:cNvSpPr/>
          <p:nvPr/>
        </p:nvSpPr>
        <p:spPr>
          <a:xfrm>
            <a:off x="1142524" y="5988725"/>
            <a:ext cx="3823573"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Application-Specific Choice</a:t>
            </a:r>
            <a:endParaRPr lang="en-US" sz="2200" dirty="0"/>
          </a:p>
        </p:txBody>
      </p:sp>
      <p:sp>
        <p:nvSpPr>
          <p:cNvPr id="15" name="Text 12"/>
          <p:cNvSpPr/>
          <p:nvPr/>
        </p:nvSpPr>
        <p:spPr>
          <a:xfrm>
            <a:off x="1142524" y="6479143"/>
            <a:ext cx="6950393"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Architecture selection depends on whether robustness or raw performance is prioritized in target application.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27484"/>
            <a:ext cx="9115306"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Mona Sans Semi Bold" pitchFamily="34" charset="0"/>
                <a:ea typeface="Mona Sans Semi Bold" pitchFamily="34" charset="-122"/>
                <a:cs typeface="Mona Sans Semi Bold" pitchFamily="34" charset="-120"/>
              </a:rPr>
              <a:t>Conclusion and Future Directions</a:t>
            </a:r>
            <a:endParaRPr lang="en-US" sz="4450" dirty="0"/>
          </a:p>
        </p:txBody>
      </p:sp>
      <p:sp>
        <p:nvSpPr>
          <p:cNvPr id="3" name="Text 1"/>
          <p:cNvSpPr/>
          <p:nvPr/>
        </p:nvSpPr>
        <p:spPr>
          <a:xfrm>
            <a:off x="1133951" y="2245043"/>
            <a:ext cx="12702659"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This comprehensive analysis demonstrates that 7T SRAM significantly improves read stability through decoupled read paths, achieving 50% increase in static noise margin compared to conventional 6T architecture.</a:t>
            </a:r>
            <a:endParaRPr lang="en-US" sz="1750" dirty="0"/>
          </a:p>
        </p:txBody>
      </p:sp>
      <p:sp>
        <p:nvSpPr>
          <p:cNvPr id="4" name="Shape 2"/>
          <p:cNvSpPr/>
          <p:nvPr/>
        </p:nvSpPr>
        <p:spPr>
          <a:xfrm>
            <a:off x="793790" y="1989892"/>
            <a:ext cx="30480" cy="1236107"/>
          </a:xfrm>
          <a:prstGeom prst="rect">
            <a:avLst/>
          </a:prstGeom>
          <a:solidFill>
            <a:srgbClr val="373B48"/>
          </a:solidFill>
          <a:ln/>
        </p:spPr>
      </p:sp>
      <p:pic>
        <p:nvPicPr>
          <p:cNvPr id="5" name="Image 0" descr="preencoded.png"/>
          <p:cNvPicPr>
            <a:picLocks noChangeAspect="1"/>
          </p:cNvPicPr>
          <p:nvPr/>
        </p:nvPicPr>
        <p:blipFill>
          <a:blip r:embed="rId3"/>
          <a:stretch>
            <a:fillRect/>
          </a:stretch>
        </p:blipFill>
        <p:spPr>
          <a:xfrm>
            <a:off x="793790" y="3481149"/>
            <a:ext cx="4347567" cy="907256"/>
          </a:xfrm>
          <a:prstGeom prst="rect">
            <a:avLst/>
          </a:prstGeom>
        </p:spPr>
      </p:pic>
      <p:sp>
        <p:nvSpPr>
          <p:cNvPr id="6" name="Text 3"/>
          <p:cNvSpPr/>
          <p:nvPr/>
        </p:nvSpPr>
        <p:spPr>
          <a:xfrm>
            <a:off x="1020604" y="4615220"/>
            <a:ext cx="2991326"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Trade-off Recognition</a:t>
            </a:r>
            <a:endParaRPr lang="en-US" sz="2200" dirty="0"/>
          </a:p>
        </p:txBody>
      </p:sp>
      <p:sp>
        <p:nvSpPr>
          <p:cNvPr id="7" name="Text 4"/>
          <p:cNvSpPr/>
          <p:nvPr/>
        </p:nvSpPr>
        <p:spPr>
          <a:xfrm>
            <a:off x="1020604" y="5105638"/>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Improved robustness accompanied by increased delay, power, and area overhead.</a:t>
            </a:r>
            <a:endParaRPr lang="en-US" sz="1750" dirty="0"/>
          </a:p>
        </p:txBody>
      </p:sp>
      <p:pic>
        <p:nvPicPr>
          <p:cNvPr id="8" name="Image 1" descr="preencoded.png"/>
          <p:cNvPicPr>
            <a:picLocks noChangeAspect="1"/>
          </p:cNvPicPr>
          <p:nvPr/>
        </p:nvPicPr>
        <p:blipFill>
          <a:blip r:embed="rId4"/>
          <a:stretch>
            <a:fillRect/>
          </a:stretch>
        </p:blipFill>
        <p:spPr>
          <a:xfrm>
            <a:off x="5141357" y="3481149"/>
            <a:ext cx="4347567" cy="907256"/>
          </a:xfrm>
          <a:prstGeom prst="rect">
            <a:avLst/>
          </a:prstGeom>
        </p:spPr>
      </p:pic>
      <p:sp>
        <p:nvSpPr>
          <p:cNvPr id="9" name="Text 5"/>
          <p:cNvSpPr/>
          <p:nvPr/>
        </p:nvSpPr>
        <p:spPr>
          <a:xfrm>
            <a:off x="5368171" y="46152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Optimization Path</a:t>
            </a:r>
            <a:endParaRPr lang="en-US" sz="2200" dirty="0"/>
          </a:p>
        </p:txBody>
      </p:sp>
      <p:sp>
        <p:nvSpPr>
          <p:cNvPr id="10" name="Text 6"/>
          <p:cNvSpPr/>
          <p:nvPr/>
        </p:nvSpPr>
        <p:spPr>
          <a:xfrm>
            <a:off x="5368171" y="5105638"/>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Architectural and timing-level optimizations needed for standard 6T SRAM reliability enhancement.</a:t>
            </a:r>
            <a:endParaRPr lang="en-US" sz="1750" dirty="0"/>
          </a:p>
        </p:txBody>
      </p:sp>
      <p:pic>
        <p:nvPicPr>
          <p:cNvPr id="11" name="Image 2" descr="preencoded.png"/>
          <p:cNvPicPr>
            <a:picLocks noChangeAspect="1"/>
          </p:cNvPicPr>
          <p:nvPr/>
        </p:nvPicPr>
        <p:blipFill>
          <a:blip r:embed="rId5"/>
          <a:stretch>
            <a:fillRect/>
          </a:stretch>
        </p:blipFill>
        <p:spPr>
          <a:xfrm>
            <a:off x="9488924" y="3481149"/>
            <a:ext cx="4347567" cy="907256"/>
          </a:xfrm>
          <a:prstGeom prst="rect">
            <a:avLst/>
          </a:prstGeom>
        </p:spPr>
      </p:pic>
      <p:sp>
        <p:nvSpPr>
          <p:cNvPr id="12" name="Text 7"/>
          <p:cNvSpPr/>
          <p:nvPr/>
        </p:nvSpPr>
        <p:spPr>
          <a:xfrm>
            <a:off x="9715738" y="46152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2586B"/>
                </a:solidFill>
                <a:latin typeface="Mona Sans Semi Bold" pitchFamily="34" charset="0"/>
                <a:ea typeface="Mona Sans Semi Bold" pitchFamily="34" charset="-122"/>
                <a:cs typeface="Mona Sans Semi Bold" pitchFamily="34" charset="-120"/>
              </a:rPr>
              <a:t>Promising Solutions</a:t>
            </a:r>
            <a:endParaRPr lang="en-US" sz="2200" dirty="0"/>
          </a:p>
        </p:txBody>
      </p:sp>
      <p:sp>
        <p:nvSpPr>
          <p:cNvPr id="13" name="Text 8"/>
          <p:cNvSpPr/>
          <p:nvPr/>
        </p:nvSpPr>
        <p:spPr>
          <a:xfrm>
            <a:off x="9715738" y="5105638"/>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Replica-assisted adaptive wordline control for robust, energy-efficient SRAM operation.</a:t>
            </a:r>
            <a:endParaRPr lang="en-US" sz="1750" dirty="0"/>
          </a:p>
        </p:txBody>
      </p:sp>
      <p:sp>
        <p:nvSpPr>
          <p:cNvPr id="14" name="Text 9"/>
          <p:cNvSpPr/>
          <p:nvPr/>
        </p:nvSpPr>
        <p:spPr>
          <a:xfrm>
            <a:off x="793790" y="667631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2586B"/>
                </a:solidFill>
                <a:latin typeface="Funnel Sans" pitchFamily="34" charset="0"/>
                <a:ea typeface="Funnel Sans" pitchFamily="34" charset="-122"/>
                <a:cs typeface="Funnel Sans" pitchFamily="34" charset="-120"/>
              </a:rPr>
              <a:t>The findings strongly support adoption of assist circuit techniques as promising solutions for achieving robust and energy-efficient SRAM operation in modern low-power and memory-centric computing systems.</a:t>
            </a:r>
            <a:endParaRPr lang="en-US" sz="1750" dirty="0"/>
          </a:p>
        </p:txBody>
      </p:sp>
      <p:sp>
        <p:nvSpPr>
          <p:cNvPr id="15" name="Rectangle 14">
            <a:extLst>
              <a:ext uri="{FF2B5EF4-FFF2-40B4-BE49-F238E27FC236}">
                <a16:creationId xmlns:a16="http://schemas.microsoft.com/office/drawing/2014/main" id="{77EF9AB2-9FD2-574D-F052-3B0F12026779}"/>
              </a:ext>
            </a:extLst>
          </p:cNvPr>
          <p:cNvSpPr/>
          <p:nvPr/>
        </p:nvSpPr>
        <p:spPr>
          <a:xfrm>
            <a:off x="12832773" y="7699663"/>
            <a:ext cx="1787236" cy="498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683</Words>
  <Application>Microsoft Office PowerPoint</Application>
  <PresentationFormat>Custom</PresentationFormat>
  <Paragraphs>102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Mona Sans Light</vt:lpstr>
      <vt:lpstr>Mona Sans Semi Bold</vt:lpstr>
      <vt:lpstr>Microsoft Sans Serif</vt:lpstr>
      <vt:lpstr>Funnel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Ugandhar Vaddi</cp:lastModifiedBy>
  <cp:revision>3</cp:revision>
  <dcterms:created xsi:type="dcterms:W3CDTF">2026-03-28T04:42:51Z</dcterms:created>
  <dcterms:modified xsi:type="dcterms:W3CDTF">2026-03-28T04:45:26Z</dcterms:modified>
</cp:coreProperties>
</file>