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79" r:id="rId5"/>
    <p:sldId id="259" r:id="rId6"/>
    <p:sldId id="269" r:id="rId7"/>
    <p:sldId id="270" r:id="rId8"/>
    <p:sldId id="271" r:id="rId9"/>
    <p:sldId id="261" r:id="rId10"/>
    <p:sldId id="262" r:id="rId11"/>
    <p:sldId id="263" r:id="rId12"/>
    <p:sldId id="265" r:id="rId13"/>
    <p:sldId id="264" r:id="rId14"/>
    <p:sldId id="282" r:id="rId15"/>
    <p:sldId id="289" r:id="rId16"/>
    <p:sldId id="273" r:id="rId17"/>
    <p:sldId id="275" r:id="rId18"/>
    <p:sldId id="274" r:id="rId19"/>
    <p:sldId id="278" r:id="rId20"/>
    <p:sldId id="276" r:id="rId21"/>
    <p:sldId id="283" r:id="rId22"/>
    <p:sldId id="284" r:id="rId23"/>
    <p:sldId id="285" r:id="rId24"/>
    <p:sldId id="286" r:id="rId25"/>
    <p:sldId id="287" r:id="rId26"/>
    <p:sldId id="288" r:id="rId27"/>
    <p:sldId id="290" r:id="rId28"/>
    <p:sldId id="291" r:id="rId29"/>
    <p:sldId id="281" r:id="rId30"/>
    <p:sldId id="280" r:id="rId31"/>
    <p:sldId id="267" r:id="rId32"/>
    <p:sldId id="26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6"/>
    <p:restoredTop sz="94676"/>
  </p:normalViewPr>
  <p:slideViewPr>
    <p:cSldViewPr snapToGrid="0" snapToObjects="1">
      <p:cViewPr varScale="1">
        <p:scale>
          <a:sx n="84" d="100"/>
          <a:sy n="84" d="100"/>
        </p:scale>
        <p:origin x="118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CE757-1974-443C-9E09-296A9ACAD8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763ED-FCDE-47DA-BD53-EC5ED5A18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63ED-FCDE-47DA-BD53-EC5ED5A1861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72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32C3-6F3E-8CDE-A009-C7DB2B00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EE96C-02ED-2134-ED73-C300063A1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1B9B4-B892-A285-567D-623AE4EC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9B035-C073-9154-41A7-80C5C727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4E0BE-E866-44EC-A3EB-0A4D38E50F3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651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4E0BE-E866-44EC-A3EB-0A4D38E50F3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7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952" y="2563685"/>
            <a:ext cx="7772400" cy="1470025"/>
          </a:xfrm>
        </p:spPr>
        <p:txBody>
          <a:bodyPr>
            <a:noAutofit/>
          </a:bodyPr>
          <a:lstStyle/>
          <a:p>
            <a:r>
              <a:rPr lang="en-IN" sz="2800" b="1" dirty="0"/>
              <a:t>HIGH PERFORMANCE SRAM DESIGN FOR ENERGY EFFICIENT SYSTEMS</a:t>
            </a:r>
            <a:endParaRPr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4752" y="4160520"/>
            <a:ext cx="6400800" cy="2697480"/>
          </a:xfrm>
        </p:spPr>
        <p:txBody>
          <a:bodyPr>
            <a:noAutofit/>
          </a:bodyPr>
          <a:lstStyle/>
          <a:p>
            <a:r>
              <a:rPr sz="1400" dirty="0">
                <a:solidFill>
                  <a:schemeClr val="tx1"/>
                </a:solidFill>
              </a:rPr>
              <a:t>NARALASETTI UMESH SURYA KIRAN - 42130311 (A5)</a:t>
            </a:r>
          </a:p>
          <a:p>
            <a:r>
              <a:rPr sz="1400" dirty="0">
                <a:solidFill>
                  <a:schemeClr val="tx1"/>
                </a:solidFill>
              </a:rPr>
              <a:t>VADDI UGANDHAR - 42130</a:t>
            </a:r>
            <a:r>
              <a:rPr lang="en-IN" sz="1400" dirty="0">
                <a:solidFill>
                  <a:schemeClr val="tx1"/>
                </a:solidFill>
              </a:rPr>
              <a:t>516</a:t>
            </a:r>
            <a:r>
              <a:rPr sz="1400" dirty="0">
                <a:solidFill>
                  <a:schemeClr val="tx1"/>
                </a:solidFill>
              </a:rPr>
              <a:t> (B3)</a:t>
            </a:r>
          </a:p>
          <a:p>
            <a:endParaRPr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Guided</a:t>
            </a:r>
            <a:r>
              <a:rPr sz="1400" dirty="0">
                <a:solidFill>
                  <a:schemeClr val="tx1"/>
                </a:solidFill>
              </a:rPr>
              <a:t> by:</a:t>
            </a:r>
          </a:p>
          <a:p>
            <a:r>
              <a:rPr sz="1400" dirty="0">
                <a:solidFill>
                  <a:schemeClr val="tx1"/>
                </a:solidFill>
              </a:rPr>
              <a:t>Dr. T. RAVI, M.E., Ph.D.</a:t>
            </a:r>
          </a:p>
          <a:p>
            <a:r>
              <a:rPr sz="1400" dirty="0">
                <a:solidFill>
                  <a:schemeClr val="tx1"/>
                </a:solidFill>
              </a:rPr>
              <a:t>Professor &amp; Head</a:t>
            </a:r>
          </a:p>
          <a:p>
            <a:r>
              <a:rPr sz="1400" dirty="0">
                <a:solidFill>
                  <a:schemeClr val="tx1"/>
                </a:solidFill>
              </a:rPr>
              <a:t>Dept. of Electronics and Communication Engineering</a:t>
            </a:r>
          </a:p>
          <a:p>
            <a:r>
              <a:rPr sz="1400" dirty="0">
                <a:solidFill>
                  <a:schemeClr val="tx1"/>
                </a:solidFill>
              </a:rPr>
              <a:t>Sathyabama Institute of Science and Technology, Chennai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DD115-D13A-5697-7C68-45B2BA86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576051"/>
            <a:ext cx="5404104" cy="2289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sz="4000" dirty="0"/>
              <a:t>OVERVIEW</a:t>
            </a:r>
            <a:r>
              <a:rPr lang="en-IN" sz="4000" dirty="0"/>
              <a:t> (Presentation)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2144"/>
            <a:ext cx="3710354" cy="555673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Introduction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Workflow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Literature Survey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Problem Definition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Objectives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Existing System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Proposed System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IN" sz="2400" dirty="0"/>
              <a:t>Circuits and Simulation</a:t>
            </a:r>
            <a:endParaRPr sz="2400" dirty="0"/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sz="24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dirty="0"/>
              <a:t>SRAM plays a critical role in low-power VLSI systems, especially for IoT and portable devices.</a:t>
            </a:r>
          </a:p>
          <a:p>
            <a:pPr algn="just">
              <a:lnSpc>
                <a:spcPct val="170000"/>
              </a:lnSpc>
            </a:pPr>
            <a:r>
              <a:rPr dirty="0"/>
              <a:t>Operating at ultra-low voltage is essential for energy-efficient design.</a:t>
            </a:r>
          </a:p>
          <a:p>
            <a:pPr algn="just">
              <a:lnSpc>
                <a:spcPct val="170000"/>
              </a:lnSpc>
            </a:pPr>
            <a:r>
              <a:rPr dirty="0"/>
              <a:t>Conventional SRAM (6T, 8T) suffers from read stability issues, leakage, and high power in sub-threshold region.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Focuses on analyzing 6T and 7T SRAM architectures and proposing a replica-assisted adaptive </a:t>
            </a:r>
            <a:r>
              <a:rPr lang="en-US" dirty="0" err="1"/>
              <a:t>wordline</a:t>
            </a:r>
            <a:r>
              <a:rPr lang="en-US" dirty="0"/>
              <a:t> controlled 6T SRAM macro for improved stability under voltage scaling.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3606-C7C0-5958-E994-5C55C8E4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9FD5-E7D5-930C-5A45-B664BEC3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857500"/>
            <a:ext cx="8229600" cy="1143000"/>
          </a:xfrm>
        </p:spPr>
        <p:txBody>
          <a:bodyPr/>
          <a:lstStyle/>
          <a:p>
            <a:r>
              <a:rPr lang="en-IN" dirty="0"/>
              <a:t>STANDARDS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655F3-6A7A-B69C-D0A6-D00B0C39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3962399"/>
            <a:ext cx="8229600" cy="11430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500" dirty="0"/>
              <a:t>IEEE 1801 – UNIFIED POWER FORMAT </a:t>
            </a:r>
          </a:p>
          <a:p>
            <a:pPr marL="0" indent="0">
              <a:buNone/>
            </a:pPr>
            <a:r>
              <a:rPr lang="en-IN" sz="2500" dirty="0"/>
              <a:t>IEEE 1685 – IP XACT (INTEGRATED FOR MEMEORY BLOCKS IN </a:t>
            </a:r>
            <a:r>
              <a:rPr lang="en-IN" sz="2500" dirty="0" err="1"/>
              <a:t>SoC’S</a:t>
            </a:r>
            <a:r>
              <a:rPr lang="en-IN" sz="2500" dirty="0"/>
              <a:t>)</a:t>
            </a:r>
          </a:p>
          <a:p>
            <a:pPr marL="0" indent="0">
              <a:buNone/>
            </a:pPr>
            <a:r>
              <a:rPr lang="en-IN" sz="2500" dirty="0"/>
              <a:t>IEEE 2416 – LOW POWER WORKING GROUPS </a:t>
            </a:r>
            <a:endParaRPr sz="25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78ADD-78DE-8908-6424-65F22DD07A82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SDG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3F37F2-EF79-AED9-98EE-18A12D0E901D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500"/>
              <a:t>SDG – 9 : Industry, Innovation and Infrastructure </a:t>
            </a:r>
          </a:p>
          <a:p>
            <a:pPr marL="0" indent="0">
              <a:buFont typeface="Arial"/>
              <a:buNone/>
            </a:pPr>
            <a:r>
              <a:rPr lang="en-US" sz="2500"/>
              <a:t>SDG – 12 : Responsible Consumption and production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38513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WORKFLOW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403013-0D87-AEFF-97DD-5366BC5587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64707"/>
            <a:ext cx="8229600" cy="3728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 on low-power SRAM and replica-based timing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and simulate 6T SRAM in Cadence Virtuoso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and simulate 7T SRAM in Cadence Virtuoso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results: SNM, power, delay, transient stability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drawbacks of 7T (area/power/delay overhead)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 Replica-assisted Adaptive WL Control for 6T SRAM macro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16×8 SRAM macro + 1 replica column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improvements through simulation and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4EA8-F211-6D4D-501E-E3EBC6C2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42" y="844565"/>
            <a:ext cx="7879842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Literature Survey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BC54722-8B23-55B2-AFB0-72ACE9117D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6626" y="1926266"/>
          <a:ext cx="7330749" cy="4357525"/>
        </p:xfrm>
        <a:graphic>
          <a:graphicData uri="http://schemas.openxmlformats.org/drawingml/2006/table">
            <a:tbl>
              <a:tblPr/>
              <a:tblGrid>
                <a:gridCol w="1120664">
                  <a:extLst>
                    <a:ext uri="{9D8B030D-6E8A-4147-A177-3AD203B41FA5}">
                      <a16:colId xmlns:a16="http://schemas.microsoft.com/office/drawing/2014/main" val="3215819709"/>
                    </a:ext>
                  </a:extLst>
                </a:gridCol>
                <a:gridCol w="1556931">
                  <a:extLst>
                    <a:ext uri="{9D8B030D-6E8A-4147-A177-3AD203B41FA5}">
                      <a16:colId xmlns:a16="http://schemas.microsoft.com/office/drawing/2014/main" val="670808077"/>
                    </a:ext>
                  </a:extLst>
                </a:gridCol>
                <a:gridCol w="1505974">
                  <a:extLst>
                    <a:ext uri="{9D8B030D-6E8A-4147-A177-3AD203B41FA5}">
                      <a16:colId xmlns:a16="http://schemas.microsoft.com/office/drawing/2014/main" val="1675375319"/>
                    </a:ext>
                  </a:extLst>
                </a:gridCol>
                <a:gridCol w="1564770">
                  <a:extLst>
                    <a:ext uri="{9D8B030D-6E8A-4147-A177-3AD203B41FA5}">
                      <a16:colId xmlns:a16="http://schemas.microsoft.com/office/drawing/2014/main" val="818818652"/>
                    </a:ext>
                  </a:extLst>
                </a:gridCol>
                <a:gridCol w="1582410">
                  <a:extLst>
                    <a:ext uri="{9D8B030D-6E8A-4147-A177-3AD203B41FA5}">
                      <a16:colId xmlns:a16="http://schemas.microsoft.com/office/drawing/2014/main" val="2126363360"/>
                    </a:ext>
                  </a:extLst>
                </a:gridCol>
              </a:tblGrid>
              <a:tr h="36500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S.No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Title &amp; Year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Author(s)</a:t>
                      </a:r>
                      <a:endParaRPr lang="en-I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Contribution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Inference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519137"/>
                  </a:ext>
                </a:extLst>
              </a:tr>
              <a:tr h="160679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Low-Power Variation-Tolerant 7T SRAM With Enhanced Read Sensing Margin for Voltage Scaling (2024)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R. S. Shreedhar et al.</a:t>
                      </a:r>
                      <a:endParaRPr lang="da-DK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Proposed 7T SRAM for voltage scaling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Improved SNM but slow read speed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6834"/>
                  </a:ext>
                </a:extLst>
              </a:tr>
              <a:tr h="160679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PMOS read-port 8T SRAM cell with optimized leakage power and enhanced performance (2023)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M. I. Shakil et al.</a:t>
                      </a:r>
                      <a:endParaRPr lang="da-DK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PMOS read port for leakage reduction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Needs precharge, larger area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761578"/>
                  </a:ext>
                </a:extLst>
              </a:tr>
              <a:tr h="7789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SRAM read and write assist apparatus (2023)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US Patent US8630132B2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Assist circuits for read/write stability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Adds complexity and power</a:t>
                      </a:r>
                      <a:endParaRPr lang="en-I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44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56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8197-47CC-F77A-C863-1D9AB91F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16" y="757154"/>
            <a:ext cx="7879842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Literature Survey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A4780A-B5F0-C84F-7E21-2321E7FE3F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118356"/>
          <a:ext cx="7886702" cy="3973346"/>
        </p:xfrm>
        <a:graphic>
          <a:graphicData uri="http://schemas.openxmlformats.org/drawingml/2006/table">
            <a:tbl>
              <a:tblPr firstRow="1" bandRow="1"/>
              <a:tblGrid>
                <a:gridCol w="1247251">
                  <a:extLst>
                    <a:ext uri="{9D8B030D-6E8A-4147-A177-3AD203B41FA5}">
                      <a16:colId xmlns:a16="http://schemas.microsoft.com/office/drawing/2014/main" val="329077348"/>
                    </a:ext>
                  </a:extLst>
                </a:gridCol>
                <a:gridCol w="1675417">
                  <a:extLst>
                    <a:ext uri="{9D8B030D-6E8A-4147-A177-3AD203B41FA5}">
                      <a16:colId xmlns:a16="http://schemas.microsoft.com/office/drawing/2014/main" val="1910744818"/>
                    </a:ext>
                  </a:extLst>
                </a:gridCol>
                <a:gridCol w="1654678">
                  <a:extLst>
                    <a:ext uri="{9D8B030D-6E8A-4147-A177-3AD203B41FA5}">
                      <a16:colId xmlns:a16="http://schemas.microsoft.com/office/drawing/2014/main" val="3283959794"/>
                    </a:ext>
                  </a:extLst>
                </a:gridCol>
                <a:gridCol w="1654678">
                  <a:extLst>
                    <a:ext uri="{9D8B030D-6E8A-4147-A177-3AD203B41FA5}">
                      <a16:colId xmlns:a16="http://schemas.microsoft.com/office/drawing/2014/main" val="538228648"/>
                    </a:ext>
                  </a:extLst>
                </a:gridCol>
                <a:gridCol w="1654678">
                  <a:extLst>
                    <a:ext uri="{9D8B030D-6E8A-4147-A177-3AD203B41FA5}">
                      <a16:colId xmlns:a16="http://schemas.microsoft.com/office/drawing/2014/main" val="1250273353"/>
                    </a:ext>
                  </a:extLst>
                </a:gridCol>
              </a:tblGrid>
              <a:tr h="41089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S.No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Title &amp; Year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Author(s)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Contribution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Inference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768652"/>
                  </a:ext>
                </a:extLst>
              </a:tr>
              <a:tr h="134280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replica technique for word line and sense control (2023)</a:t>
                      </a:r>
                      <a:endParaRPr lang="en-US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R. Rajsuman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Replica column for timing optimization</a:t>
                      </a:r>
                      <a:endParaRPr lang="en-US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Improves reliability but increases complexity</a:t>
                      </a:r>
                      <a:endParaRPr lang="en-US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535446"/>
                  </a:ext>
                </a:extLst>
              </a:tr>
              <a:tr h="110982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Design and Analysis of Fast Low Power SRAMs (2023)</a:t>
                      </a:r>
                      <a:endParaRPr lang="en-US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B. Amrutur, M. Horowitz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Optimized low-power SRAM design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Needs complex control circuits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113621"/>
                  </a:ext>
                </a:extLst>
              </a:tr>
              <a:tr h="110982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Multi-stage dual replica bit-line delay technique (2023)</a:t>
                      </a:r>
                      <a:endParaRPr lang="en-US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Z. Liu et al.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Timing for low-voltage sensing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Area overhead, complexity</a:t>
                      </a:r>
                      <a:endParaRPr lang="en-IN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844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44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C5BC-17BA-8F52-5D9B-F1B21A18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6950"/>
            <a:ext cx="7879842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Literature Survey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D41071-7A68-CE89-E30A-ECC0EC9FA9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7715" y="1926266"/>
          <a:ext cx="7668572" cy="4357526"/>
        </p:xfrm>
        <a:graphic>
          <a:graphicData uri="http://schemas.openxmlformats.org/drawingml/2006/table">
            <a:tbl>
              <a:tblPr firstRow="1" bandRow="1"/>
              <a:tblGrid>
                <a:gridCol w="1163228">
                  <a:extLst>
                    <a:ext uri="{9D8B030D-6E8A-4147-A177-3AD203B41FA5}">
                      <a16:colId xmlns:a16="http://schemas.microsoft.com/office/drawing/2014/main" val="2953913409"/>
                    </a:ext>
                  </a:extLst>
                </a:gridCol>
                <a:gridCol w="1661315">
                  <a:extLst>
                    <a:ext uri="{9D8B030D-6E8A-4147-A177-3AD203B41FA5}">
                      <a16:colId xmlns:a16="http://schemas.microsoft.com/office/drawing/2014/main" val="1138265495"/>
                    </a:ext>
                  </a:extLst>
                </a:gridCol>
                <a:gridCol w="1636624">
                  <a:extLst>
                    <a:ext uri="{9D8B030D-6E8A-4147-A177-3AD203B41FA5}">
                      <a16:colId xmlns:a16="http://schemas.microsoft.com/office/drawing/2014/main" val="43082674"/>
                    </a:ext>
                  </a:extLst>
                </a:gridCol>
                <a:gridCol w="1611933">
                  <a:extLst>
                    <a:ext uri="{9D8B030D-6E8A-4147-A177-3AD203B41FA5}">
                      <a16:colId xmlns:a16="http://schemas.microsoft.com/office/drawing/2014/main" val="4205902228"/>
                    </a:ext>
                  </a:extLst>
                </a:gridCol>
                <a:gridCol w="1595472">
                  <a:extLst>
                    <a:ext uri="{9D8B030D-6E8A-4147-A177-3AD203B41FA5}">
                      <a16:colId xmlns:a16="http://schemas.microsoft.com/office/drawing/2014/main" val="2198885860"/>
                    </a:ext>
                  </a:extLst>
                </a:gridCol>
              </a:tblGrid>
              <a:tr h="38321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S.No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Title &amp; Year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Author(s)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Contribution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Inference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299878"/>
                  </a:ext>
                </a:extLst>
              </a:tr>
              <a:tr h="146962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Reconfigurable Replica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Bitline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 to Determine Optimum SRAM Sense Amplifier Set Time (2022)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P. Panigrahi et al.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Adaptive sensing for timing optimization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Accurate but adds hardware complexity</a:t>
                      </a:r>
                      <a:endParaRPr lang="en-US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239460"/>
                  </a:ext>
                </a:extLst>
              </a:tr>
              <a:tr h="12523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8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On the Efficacy of Write-Assist Techniques in Low Voltage Nanoscale SRAMs (2021)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K. Takeda et al.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Evaluates write-assist techniques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Improves write margin but power penalty</a:t>
                      </a:r>
                      <a:endParaRPr lang="en-US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418734"/>
                  </a:ext>
                </a:extLst>
              </a:tr>
              <a:tr h="12523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9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Low Voltage and Low Power in SRAM Read and Write Assist Techniques (2021)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M. Kumar et al.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Comparison of assist schemes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Adds energy and design complexity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67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77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To design a low-power SRAM macro that improves read stability and write reliability under voltage scaling while maintaining the area efficiency of conventional 6T SRAM.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277692-96D4-71D2-B735-5B5A604D48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291" y="1746247"/>
            <a:ext cx="8781418" cy="3728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simulate 6T SRAM and 7T SRAM cells in Cadence Virtuoso (90nm).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performance metrics: SNM, delay, power, energy.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drawbacks of 7T SRAM in terms of area and power overhead.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propose a replica-assisted adaptive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wordline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-controlled 6T SRAM macro.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16×8 SRAM macro with a replica column and validate reliability improvements.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536DB7-F709-B4FA-2473-6CF1DB64A8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91713"/>
            <a:ext cx="8391525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6T SRAM</a:t>
            </a:r>
          </a:p>
          <a:p>
            <a:pPr marL="685800"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Area-efficient</a:t>
            </a:r>
          </a:p>
          <a:p>
            <a:pPr marL="685800"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Suffers from read disturb and low SNM at low VDD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7T SRAM</a:t>
            </a:r>
          </a:p>
          <a:p>
            <a:pPr marL="685800"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read stability by decoupled read path</a:t>
            </a:r>
          </a:p>
          <a:p>
            <a:pPr marL="685800"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increases power, delay, and area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BADAA0-265E-9D3B-68BA-418E7978F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977" y="1109926"/>
            <a:ext cx="7354430" cy="50162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CD71F81-5CFC-42D9-B1B4-5D230C492919}"/>
              </a:ext>
            </a:extLst>
          </p:cNvPr>
          <p:cNvSpPr txBox="1">
            <a:spLocks/>
          </p:cNvSpPr>
          <p:nvPr/>
        </p:nvSpPr>
        <p:spPr>
          <a:xfrm>
            <a:off x="513392" y="1603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EXISTING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24" y="1166018"/>
            <a:ext cx="8753475" cy="54729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/>
              <a:t>Replica-assisted adaptive </a:t>
            </a:r>
            <a:r>
              <a:rPr lang="en-US" sz="2800" b="1" dirty="0" err="1"/>
              <a:t>wordline</a:t>
            </a:r>
            <a:r>
              <a:rPr lang="en-US" sz="2800" b="1" dirty="0"/>
              <a:t> control in standard 6T SRAM macro</a:t>
            </a:r>
            <a:endParaRPr lang="en-US" sz="9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Uses standard 6T bit-cell (no modification)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Adds 1 replica column (16×1)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Replica </a:t>
            </a:r>
            <a:r>
              <a:rPr lang="en-US" sz="2000" dirty="0" err="1"/>
              <a:t>bitline</a:t>
            </a:r>
            <a:r>
              <a:rPr lang="en-US" sz="2000" dirty="0"/>
              <a:t> discharge used to generate adaptive WL pulse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Improves: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read stability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write success probability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reduces unnecessary WL ON time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Lower overhead compared to 7T cell-based macro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4A3E-7386-904D-2D9E-28E772162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889" y="578775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/>
              <a:t>6T &amp; 7T SRAM SECHMATIC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EFB8C-7CDD-EF1D-E646-E508E0D4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9757" y="2274505"/>
            <a:ext cx="3848316" cy="2308989"/>
          </a:xfrm>
          <a:prstGeom prst="rect">
            <a:avLst/>
          </a:prstGeom>
        </p:spPr>
      </p:pic>
      <p:pic>
        <p:nvPicPr>
          <p:cNvPr id="4" name="Content Placeholder 3" descr="A diagram of a circuit&#10;&#10;AI-generated content may be incorrect.">
            <a:extLst>
              <a:ext uri="{FF2B5EF4-FFF2-40B4-BE49-F238E27FC236}">
                <a16:creationId xmlns:a16="http://schemas.microsoft.com/office/drawing/2014/main" id="{420241A0-73A3-243A-4743-DACC2254D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781" y="2265086"/>
            <a:ext cx="3848316" cy="23278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8B346B-9FE1-326D-B98C-03CBB6DF64FA}"/>
              </a:ext>
            </a:extLst>
          </p:cNvPr>
          <p:cNvSpPr txBox="1"/>
          <p:nvPr/>
        </p:nvSpPr>
        <p:spPr>
          <a:xfrm>
            <a:off x="1209259" y="4985238"/>
            <a:ext cx="216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6T SRAM SECHMATIC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35D3F-946D-889F-46AE-F0D4CBFEEEBD}"/>
              </a:ext>
            </a:extLst>
          </p:cNvPr>
          <p:cNvSpPr txBox="1"/>
          <p:nvPr/>
        </p:nvSpPr>
        <p:spPr>
          <a:xfrm>
            <a:off x="5475283" y="4985238"/>
            <a:ext cx="216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7T SRAM SECHMATIC</a:t>
            </a:r>
          </a:p>
        </p:txBody>
      </p:sp>
    </p:spTree>
    <p:extLst>
      <p:ext uri="{BB962C8B-B14F-4D97-AF65-F5344CB8AC3E}">
        <p14:creationId xmlns:p14="http://schemas.microsoft.com/office/powerpoint/2010/main" val="417393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63D0-F1C7-8191-2332-2956812F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C799-D221-7246-7BB8-030A91DE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CIRCUIT DIAGRAMS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2E25F1-007C-7691-0CBE-7290E42E29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7399" y="1537356"/>
            <a:ext cx="8314984" cy="467717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61DD2E8-915E-268A-737A-7BAE0721AECD}"/>
              </a:ext>
            </a:extLst>
          </p:cNvPr>
          <p:cNvSpPr txBox="1">
            <a:spLocks/>
          </p:cNvSpPr>
          <p:nvPr/>
        </p:nvSpPr>
        <p:spPr>
          <a:xfrm>
            <a:off x="621506" y="494414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</a:t>
            </a:r>
            <a:r>
              <a:rPr lang="en-IN" sz="3100" dirty="0"/>
              <a:t>Architecture 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541545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1312-3CA5-5C9D-9CAE-30A31CE2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CIRCUIT DIAGRAMS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F1406F-1C17-746C-0D60-F28183C9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44121" y="1796956"/>
            <a:ext cx="5655756" cy="415074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1FB5321-C79C-6109-5F5F-4D3A3A015424}"/>
              </a:ext>
            </a:extLst>
          </p:cNvPr>
          <p:cNvSpPr txBox="1">
            <a:spLocks/>
          </p:cNvSpPr>
          <p:nvPr/>
        </p:nvSpPr>
        <p:spPr>
          <a:xfrm>
            <a:off x="621506" y="494414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WWL, RWL Driver Circuit</a:t>
            </a:r>
          </a:p>
        </p:txBody>
      </p:sp>
    </p:spTree>
    <p:extLst>
      <p:ext uri="{BB962C8B-B14F-4D97-AF65-F5344CB8AC3E}">
        <p14:creationId xmlns:p14="http://schemas.microsoft.com/office/powerpoint/2010/main" val="3178427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0780BE-8769-B270-7852-87C75123D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2600" y="1322959"/>
            <a:ext cx="8178799" cy="421208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06D26B-79BB-21E7-D577-3BE3F7FBBC04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Control &amp; Timing Generator Circuit</a:t>
            </a:r>
          </a:p>
        </p:txBody>
      </p:sp>
    </p:spTree>
    <p:extLst>
      <p:ext uri="{BB962C8B-B14F-4D97-AF65-F5344CB8AC3E}">
        <p14:creationId xmlns:p14="http://schemas.microsoft.com/office/powerpoint/2010/main" val="2561603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9059E45-3B82-0A31-67BF-A973EEE19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7871153-6466-A593-4714-00D4D5C55F81}"/>
              </a:ext>
            </a:extLst>
          </p:cNvPr>
          <p:cNvSpPr txBox="1">
            <a:spLocks/>
          </p:cNvSpPr>
          <p:nvPr/>
        </p:nvSpPr>
        <p:spPr>
          <a:xfrm>
            <a:off x="700088" y="47612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Control &amp; Timing Generator Circuit output waveform</a:t>
            </a:r>
          </a:p>
        </p:txBody>
      </p:sp>
    </p:spTree>
    <p:extLst>
      <p:ext uri="{BB962C8B-B14F-4D97-AF65-F5344CB8AC3E}">
        <p14:creationId xmlns:p14="http://schemas.microsoft.com/office/powerpoint/2010/main" val="1002970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6A4F-95F6-4744-4DDF-4CE552D5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00BC80-282C-0CCC-41B4-EA6D8345B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2600" y="1322959"/>
            <a:ext cx="8178799" cy="421208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967E3-6359-D9A2-E1E3-8E1F5E10BDEE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Error Detection Circuit</a:t>
            </a:r>
          </a:p>
        </p:txBody>
      </p:sp>
    </p:spTree>
    <p:extLst>
      <p:ext uri="{BB962C8B-B14F-4D97-AF65-F5344CB8AC3E}">
        <p14:creationId xmlns:p14="http://schemas.microsoft.com/office/powerpoint/2010/main" val="396383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14203D-71CE-AF2E-D689-8ECAED9BA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2600" y="1169606"/>
            <a:ext cx="8178799" cy="45187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19E363-5E3C-B283-FCA2-B6CC6070EECF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Error Detection output waveform</a:t>
            </a:r>
          </a:p>
        </p:txBody>
      </p:sp>
    </p:spTree>
    <p:extLst>
      <p:ext uri="{BB962C8B-B14F-4D97-AF65-F5344CB8AC3E}">
        <p14:creationId xmlns:p14="http://schemas.microsoft.com/office/powerpoint/2010/main" val="94723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8569F-7ACD-F8E4-2E05-870DCC90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3AB0-8B4D-FEEE-8454-2BC55EAC0692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&amp; 7T SRAM Design and analysis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DE46F08-170E-C8B0-4309-3AEE07181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B05595-6A3C-EF75-AE81-7A0CE366F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93519"/>
            <a:ext cx="8229600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08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EC72-89CD-0BA6-4066-D54262B1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EA37-16EA-1084-B688-89ECC2485EB6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&amp; 7T SRAM Design and analysis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5370F8F-7824-6239-4769-1F5945811D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2999AA-F4E7-CDAC-E956-6EFF7D701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993519"/>
            <a:ext cx="8229600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97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D6B0-58D0-C001-2675-FB9D2FC5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95AD-2240-E3A3-1E11-DDF8232DE534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&amp; 7T SRAM Design and analysis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3431D4E-1E84-0F37-AB4D-2E425099D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04101A-D5CC-741B-6245-AA0DD7273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39214"/>
            <a:ext cx="8229600" cy="404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74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7939-05A1-40BC-0288-03146488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671C-D19F-AFF6-FE69-AEA8F62DC913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&amp; 7T SRAM Design and analysis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6F0FAFC-CA25-4BAF-C393-65778D295D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F05E1AA-B5E1-0C1D-916D-2851D9D74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993519"/>
            <a:ext cx="8229600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62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C6D1-1F68-01AA-439F-CC1B1F2E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CD7F-9944-9AF2-FAC8-B6F78B247BE6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&amp; 7T SRAM Design and analysis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E7BD207-B2D5-5369-FB09-D660666188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E47A9C-AB30-9A66-79D8-E2F8E2527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993519"/>
            <a:ext cx="8229600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49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B46F-BFD1-B384-54FF-162B993F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DA58-4314-0267-D7CD-E72B2F3650C0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&amp; 7T SRAM Design and analysis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FF54F95-052A-8396-2572-1337453091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63E11-8642-2B5C-77A7-6C125F3DB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839214"/>
            <a:ext cx="8229600" cy="404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37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CBE3-2C46-9760-9169-E8195F2D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E8EC2-0D08-DD0F-32DF-F07D2ED54384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Macro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7A705FF-DA75-83BE-5963-DF47695D9F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0280DA-F422-A721-319C-59B505A0A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993519"/>
            <a:ext cx="8229600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93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F764-FD55-9CAC-C39F-5251BD4A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E3A5-B887-AF60-0EF0-7E3E5C2DD4B1}"/>
              </a:ext>
            </a:extLst>
          </p:cNvPr>
          <p:cNvSpPr txBox="1">
            <a:spLocks/>
          </p:cNvSpPr>
          <p:nvPr/>
        </p:nvSpPr>
        <p:spPr>
          <a:xfrm>
            <a:off x="621505" y="293246"/>
            <a:ext cx="7900987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100" dirty="0"/>
              <a:t>6T macro with </a:t>
            </a:r>
            <a:r>
              <a:rPr lang="en-IN" sz="3100" dirty="0"/>
              <a:t>architecture </a:t>
            </a:r>
            <a:endParaRPr lang="en-US" sz="31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AD9A778-AA00-0701-6585-8881C4459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48486E-554D-2F7C-BF89-187A886C8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993519"/>
            <a:ext cx="8229600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10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9D0E-3146-597C-8CEE-E85606ED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6523"/>
            <a:ext cx="8229600" cy="1143000"/>
          </a:xfrm>
        </p:spPr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2D4393-EF72-1663-6E41-E15D37091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404989"/>
              </p:ext>
            </p:extLst>
          </p:nvPr>
        </p:nvGraphicFramePr>
        <p:xfrm>
          <a:off x="457200" y="1830057"/>
          <a:ext cx="8229599" cy="291680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273552">
                  <a:extLst>
                    <a:ext uri="{9D8B030D-6E8A-4147-A177-3AD203B41FA5}">
                      <a16:colId xmlns:a16="http://schemas.microsoft.com/office/drawing/2014/main" val="4222972666"/>
                    </a:ext>
                  </a:extLst>
                </a:gridCol>
                <a:gridCol w="2890935">
                  <a:extLst>
                    <a:ext uri="{9D8B030D-6E8A-4147-A177-3AD203B41FA5}">
                      <a16:colId xmlns:a16="http://schemas.microsoft.com/office/drawing/2014/main" val="2510892432"/>
                    </a:ext>
                  </a:extLst>
                </a:gridCol>
                <a:gridCol w="2065112">
                  <a:extLst>
                    <a:ext uri="{9D8B030D-6E8A-4147-A177-3AD203B41FA5}">
                      <a16:colId xmlns:a16="http://schemas.microsoft.com/office/drawing/2014/main" val="1421659210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6T SRAM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7T SRAM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67136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Static Noise Margin (SNM)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0.31 V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0.47 V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51299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Read Delay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1.18 ns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1.63 ns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37713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Write Delay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0.92 ns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1.34 ns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1662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Average Power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9.17 µW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11.41 µW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60598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Read Energy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10.82 fJ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18.59 fJ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89744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Total average power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1.98E-6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4.68E-9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465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226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8098-28D3-A47E-F123-740B1D4B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5D4E56-7E9C-C2F5-7D21-3886F54B3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2846"/>
            <a:ext cx="2827550" cy="2452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A23E7F-A000-5B3C-05BF-73F8DC738669}"/>
              </a:ext>
            </a:extLst>
          </p:cNvPr>
          <p:cNvSpPr txBox="1"/>
          <p:nvPr/>
        </p:nvSpPr>
        <p:spPr>
          <a:xfrm>
            <a:off x="221437" y="4222084"/>
            <a:ext cx="2614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Static Noise Margin (SNM) comparison using butterfly curves</a:t>
            </a:r>
            <a:endParaRPr lang="en-US" sz="1600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A84EAA67-4652-B03C-43DC-19A2CFD8E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6467" y="1754727"/>
            <a:ext cx="3249289" cy="21205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57ED10-B9CF-AB06-D2EF-E0A49B9FD46C}"/>
              </a:ext>
            </a:extLst>
          </p:cNvPr>
          <p:cNvSpPr txBox="1"/>
          <p:nvPr/>
        </p:nvSpPr>
        <p:spPr>
          <a:xfrm>
            <a:off x="3166863" y="4212404"/>
            <a:ext cx="267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Average power consumption comparison of 6T and 7T </a:t>
            </a:r>
            <a:r>
              <a:rPr lang="en-IN" sz="1600" b="1" i="1" dirty="0"/>
              <a:t>Architecture </a:t>
            </a:r>
            <a:endParaRPr lang="en-US" sz="1200" dirty="0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A24C127C-3BB7-9A63-37D1-45E1F1D8F0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82" y="1933757"/>
            <a:ext cx="3383218" cy="19415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093356-1588-6CDF-1188-B44801DC063B}"/>
              </a:ext>
            </a:extLst>
          </p:cNvPr>
          <p:cNvSpPr txBox="1"/>
          <p:nvPr/>
        </p:nvSpPr>
        <p:spPr>
          <a:xfrm>
            <a:off x="5995756" y="4212403"/>
            <a:ext cx="29749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Read and write delay comparison of 6T and 7T </a:t>
            </a:r>
            <a:r>
              <a:rPr lang="en-IN" sz="1600" b="1" i="1" dirty="0"/>
              <a:t>Architecture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9850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dirty="0"/>
              <a:t>[1] A Low-Power Variation-Tolerant 7T SRAM With Enhanced Read Sensing Margin for Voltage Scaling.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[2] A PMOS read-port 8T SRAM cell with optimized leakage power and enhanced performance.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[3] US8630132B2 - SRAM read and write assist apparatus - Google Patents.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[4] A replica technique for </a:t>
            </a:r>
            <a:r>
              <a:rPr dirty="0" err="1"/>
              <a:t>wordline</a:t>
            </a:r>
            <a:r>
              <a:rPr dirty="0"/>
              <a:t> and sense control in low-power SRAM's.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[5] DESIGN AND ANALYSIS OF FAST LOW POWER SRAMs - Stanford VLSI research group.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[6] Multi-stage dual replica bit-line delay technique for process-variation-robust timing of low voltage SRAM sense amplifier.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[7] A Reconfigurable Replica </a:t>
            </a:r>
            <a:r>
              <a:rPr dirty="0" err="1"/>
              <a:t>Bitline</a:t>
            </a:r>
            <a:r>
              <a:rPr dirty="0"/>
              <a:t> to Determine Optimum SRAM Sense Amplifier Set Time.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[8] On the Efficacy of Write-Assist Techniques in Low Voltage Nanoscale SRAMs.</a:t>
            </a:r>
          </a:p>
          <a:p>
            <a:pPr marL="0" indent="0">
              <a:lnSpc>
                <a:spcPct val="170000"/>
              </a:lnSpc>
              <a:buNone/>
            </a:pPr>
            <a:r>
              <a:rPr dirty="0"/>
              <a:t>[9] Low Voltage and Low Power in SRAM Read and Write Assist Techniques - IJSTE.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1085</Words>
  <Application>Microsoft Office PowerPoint</Application>
  <PresentationFormat>On-screen Show (4:3)</PresentationFormat>
  <Paragraphs>190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Google Sans Text</vt:lpstr>
      <vt:lpstr>Times New Roman</vt:lpstr>
      <vt:lpstr>Wingdings</vt:lpstr>
      <vt:lpstr>Office Theme</vt:lpstr>
      <vt:lpstr>HIGH PERFORMANCE SRAM DESIGN FOR ENERGY EFFICIENT SYSTEMS</vt:lpstr>
      <vt:lpstr>OVERVIEW (Presentation)</vt:lpstr>
      <vt:lpstr>INTRODUCTION</vt:lpstr>
      <vt:lpstr>STANDARDS</vt:lpstr>
      <vt:lpstr>WORKFLOW</vt:lpstr>
      <vt:lpstr>Literature Survey</vt:lpstr>
      <vt:lpstr>Literature Survey</vt:lpstr>
      <vt:lpstr>Literature Survey</vt:lpstr>
      <vt:lpstr>PROBLEM DEFINITION</vt:lpstr>
      <vt:lpstr>OBJECTIVES</vt:lpstr>
      <vt:lpstr>EXISTING SYSTEM</vt:lpstr>
      <vt:lpstr>PowerPoint Presentation</vt:lpstr>
      <vt:lpstr>PROPOSED SYSTEM</vt:lpstr>
      <vt:lpstr>6T &amp; 7T SRAM SECHMATIC</vt:lpstr>
      <vt:lpstr>CIRCUIT DIAGRAMS </vt:lpstr>
      <vt:lpstr>CIRCUIT DIAGRAMS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</vt:lpstr>
      <vt:lpstr>RESULT 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Naralasetti Umesh Surya kiran</dc:creator>
  <cp:keywords/>
  <dc:description>generated using python-pptx</dc:description>
  <cp:lastModifiedBy>Ugandhar Vaddi</cp:lastModifiedBy>
  <cp:revision>40</cp:revision>
  <dcterms:created xsi:type="dcterms:W3CDTF">2013-01-27T09:14:16Z</dcterms:created>
  <dcterms:modified xsi:type="dcterms:W3CDTF">2026-04-15T04:12:24Z</dcterms:modified>
  <cp:category/>
</cp:coreProperties>
</file>